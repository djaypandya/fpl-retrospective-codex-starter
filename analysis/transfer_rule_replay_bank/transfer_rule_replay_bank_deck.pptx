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Bef>
                <a:spcPts val="0"/>
              </a:spcBef>
              <a:spcAft>
                <a:spcPts val="0"/>
              </a:spcAft>
            </a:pPr>
            <a:r>
              <a:rPr sz="1100">
                <a:solidFill>
                  <a:srgbClr val="000000"/>
                </a:solidFill>
                <a:latin typeface="Arial"/>
              </a:rPr>
              <a:t>This is the fair-budget rematch of the earlier sale-price-only replay. We changed only the candidate price cap. The question is whether access to the real pre-deadline bank rescues the simple form rule.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Bef>
                <a:spcPts val="0"/>
              </a:spcBef>
              <a:spcAft>
                <a:spcPts val="0"/>
              </a:spcAft>
            </a:pPr>
            <a:r>
              <a:rPr sz="1100">
                <a:solidFill>
                  <a:srgbClr val="000000"/>
                </a:solidFill>
                <a:latin typeface="Arial"/>
              </a:rPr>
              <a:t>For a transfer in gameweek T, we read the bank from the event T minus 1 picks file and divide the stored tenths by ten. Every other filter, tiebreak, holding window, and chip exclusion stays unchanged, so this is a clean one-change comparison.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Bef>
                <a:spcPts val="0"/>
              </a:spcBef>
              <a:spcAft>
                <a:spcPts val="0"/>
              </a:spcAft>
            </a:pPr>
            <a:r>
              <a:rPr sz="1100">
                <a:solidFill>
                  <a:srgbClr val="000000"/>
                </a:solidFill>
                <a:latin typeface="Arial"/>
              </a:rPr>
              <a:t>The answer is no. Across 45 candidate-available rows, actual picks scored 784 and rule picks scored 587. The bank-aware deficit is 197 points. Compared with minus 191 before, the extra budget changed choices but made the total six points worse.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Bef>
                <a:spcPts val="0"/>
              </a:spcBef>
              <a:spcAft>
                <a:spcPts val="0"/>
              </a:spcAft>
            </a:pPr>
            <a:r>
              <a:rPr sz="1100">
                <a:solidFill>
                  <a:srgbClr val="000000"/>
                </a:solidFill>
                <a:latin typeface="Arial"/>
              </a:rPr>
              <a:t>The sale-only replay was 191 points behind. The bank-aware replay was 197 behind. The bank changed the pool, but this form ranking did not use the wider pool well enough to close the gap.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Bef>
                <a:spcPts val="0"/>
              </a:spcBef>
              <a:spcAft>
                <a:spcPts val="0"/>
              </a:spcAft>
            </a:pPr>
            <a:r>
              <a:rPr sz="1100">
                <a:solidFill>
                  <a:srgbClr val="000000"/>
                </a:solidFill>
                <a:latin typeface="Arial"/>
              </a:rPr>
              <a:t>The bank-aware rule won 18 fights, lost 22, and tied five. That is a better record than 14, 24, and five before. Yet the average stayed near minus 4.4 points because the size of the losses still mattered.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Bef>
                <a:spcPts val="0"/>
              </a:spcBef>
              <a:spcAft>
                <a:spcPts val="0"/>
              </a:spcAft>
            </a:pPr>
            <a:r>
              <a:rPr sz="1100">
                <a:solidFill>
                  <a:srgbClr val="000000"/>
                </a:solidFill>
                <a:latin typeface="Arial"/>
              </a:rPr>
              <a:t>Thirteen rule picks changed when the bank was added. Those changes had a net effect of minus six rule points relative to the old replay. More choice did not improve this ranking engine.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Bef>
                <a:spcPts val="0"/>
              </a:spcBef>
              <a:spcAft>
                <a:spcPts val="0"/>
              </a:spcAft>
            </a:pPr>
            <a:r>
              <a:rPr sz="1100">
                <a:solidFill>
                  <a:srgbClr val="000000"/>
                </a:solidFill>
                <a:latin typeface="Arial"/>
              </a:rPr>
              <a:t>The fair budget did not change the three former headline misses. Gabriel was affordable but failed the minutes screen. Wilson and Bruno G. were affordable but lost the form ranking. These large holding-window gaps can still contain luck.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Bef>
                <a:spcPts val="0"/>
              </a:spcBef>
              <a:spcAft>
                <a:spcPts val="0"/>
              </a:spcAft>
            </a:pPr>
            <a:r>
              <a:rPr sz="1100">
                <a:solidFill>
                  <a:srgbClr val="000000"/>
                </a:solidFill>
                <a:latin typeface="Arial"/>
              </a:rPr>
              <a:t>The two real reasons the rule loses, and neither is budget. First, 11 of 46 of your actual buys fail the rule's own minutes or price filters, including injury and rotation returns like Gabriel and Saka that a mechanical screen would never surface. Second, the ranking signal is weak: prior work found trailing xGI links with future goals about twice as strongly as trailing form. These are associations, not guarantees.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Bef>
                <a:spcPts val="0"/>
              </a:spcBef>
              <a:spcAft>
                <a:spcPts val="0"/>
              </a:spcAft>
            </a:pPr>
            <a:r>
              <a:rPr sz="1100">
                <a:solidFill>
                  <a:srgbClr val="000000"/>
                </a:solidFill>
                <a:latin typeface="Arial"/>
              </a:rPr>
              <a:t>The operating choice is to keep human judgment but improve the screen. Work with the package budget, use trailing xGI for attacker threat, retain the availability check, and make the final decision with role, fixtures, and squad structure included.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Bef>
                <a:spcPts val="0"/>
              </a:spcBef>
              <a:spcAft>
                <a:spcPts val="0"/>
              </a:spcAft>
            </a:pPr>
            <a:r>
              <a:rPr sz="1100">
                <a:solidFill>
                  <a:srgbClr val="000000"/>
                </a:solidFill>
                <a:latin typeface="Arial"/>
              </a:rPr>
              <a:t>The decision stays practical: keep judgment, use the full package budget, and strengthen the player screen. Read the exact totals with care because this is one season, the primary and sensitivity score different candidate-available sets, and the per-leg cap still misses cash released inside some same-week packages.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D10"/>
        </a:solidFill>
        <a:effectLst/>
      </p:bgPr>
    </p:bg>
    <p:spTree>
      <p:nvGrpSpPr>
        <p:cNvPr id="1" name=""/>
        <p:cNvGrpSpPr/>
        <p:nvPr/>
      </p:nvGrpSpPr>
      <p:grpSpPr/>
      <p:sp>
        <p:nvSpPr>
          <p:cNvPr id="2" name="Kicker"/>
          <p:cNvSpPr txBox="1"/>
          <p:nvPr/>
        </p:nvSpPr>
        <p:spPr>
          <a:xfrm>
            <a:off x="685800" y="713232"/>
            <a:ext cx="10820095" cy="274320"/>
          </a:xfrm>
          <a:prstGeom prst="rect">
            <a:avLst/>
          </a:prstGeom>
          <a:noFill/>
        </p:spPr>
        <p:txBody>
          <a:bodyPr wrap="square" lIns="0" rIns="0" tIns="0" bIns="0" anchor="t">
            <a:spAutoFit/>
          </a:bodyPr>
          <a:lstStyle/>
          <a:p>
            <a:pPr algn="ctr">
              <a:lnSpc>
                <a:spcPct val="100000"/>
              </a:lnSpc>
              <a:spcBef>
                <a:spcPts val="0"/>
              </a:spcBef>
              <a:spcAft>
                <a:spcPts val="0"/>
              </a:spcAft>
            </a:pPr>
            <a:r>
              <a:rPr sz="1400" b="1">
                <a:solidFill>
                  <a:srgbClr val="00D785"/>
                </a:solidFill>
                <a:latin typeface="Arial"/>
              </a:rPr>
              <a:t>BANK-AWARE TRANSFER RULE REPLAY</a:t>
            </a:r>
          </a:p>
        </p:txBody>
      </p:sp>
      <p:sp>
        <p:nvSpPr>
          <p:cNvPr id="3" name="Title"/>
          <p:cNvSpPr txBox="1"/>
          <p:nvPr/>
        </p:nvSpPr>
        <p:spPr>
          <a:xfrm>
            <a:off x="685800" y="1828800"/>
            <a:ext cx="10820095" cy="1371600"/>
          </a:xfrm>
          <a:prstGeom prst="rect">
            <a:avLst/>
          </a:prstGeom>
          <a:noFill/>
        </p:spPr>
        <p:txBody>
          <a:bodyPr wrap="square" lIns="0" rIns="0" tIns="0" bIns="0" anchor="ctr">
            <a:spAutoFit/>
          </a:bodyPr>
          <a:lstStyle/>
          <a:p>
            <a:pPr algn="ctr">
              <a:lnSpc>
                <a:spcPct val="92000"/>
              </a:lnSpc>
              <a:spcBef>
                <a:spcPts val="0"/>
              </a:spcBef>
              <a:spcAft>
                <a:spcPts val="0"/>
              </a:spcAft>
            </a:pPr>
            <a:r>
              <a:rPr sz="4600" b="1">
                <a:solidFill>
                  <a:srgbClr val="F4EFE4"/>
                </a:solidFill>
                <a:latin typeface="Arial"/>
              </a:rPr>
              <a:t>Did a fair budget rescue
the simple transfer rule?</a:t>
            </a:r>
          </a:p>
        </p:txBody>
      </p:sp>
      <p:sp>
        <p:nvSpPr>
          <p:cNvPr id="4" name="Subtitle"/>
          <p:cNvSpPr txBox="1"/>
          <p:nvPr/>
        </p:nvSpPr>
        <p:spPr>
          <a:xfrm>
            <a:off x="685800" y="3456432"/>
            <a:ext cx="10820095" cy="365760"/>
          </a:xfrm>
          <a:prstGeom prst="rect">
            <a:avLst/>
          </a:prstGeom>
          <a:noFill/>
        </p:spPr>
        <p:txBody>
          <a:bodyPr wrap="square" lIns="0" rIns="0" tIns="0" bIns="0" anchor="t">
            <a:spAutoFit/>
          </a:bodyPr>
          <a:lstStyle/>
          <a:p>
            <a:pPr algn="ctr">
              <a:lnSpc>
                <a:spcPct val="100000"/>
              </a:lnSpc>
              <a:spcBef>
                <a:spcPts val="0"/>
              </a:spcBef>
              <a:spcAft>
                <a:spcPts val="0"/>
              </a:spcAft>
            </a:pPr>
            <a:r>
              <a:rPr sz="1800" b="0">
                <a:solidFill>
                  <a:srgbClr val="8F9798"/>
                </a:solidFill>
                <a:latin typeface="Arial"/>
              </a:rPr>
              <a:t>Entry 816200  |  FPL 2025/26</a:t>
            </a:r>
          </a:p>
        </p:txBody>
      </p:sp>
      <p:sp>
        <p:nvSpPr>
          <p:cNvPr id="5" name="Method line"/>
          <p:cNvSpPr txBox="1"/>
          <p:nvPr/>
        </p:nvSpPr>
        <p:spPr>
          <a:xfrm>
            <a:off x="685800" y="5440680"/>
            <a:ext cx="10820095" cy="274320"/>
          </a:xfrm>
          <a:prstGeom prst="rect">
            <a:avLst/>
          </a:prstGeom>
          <a:noFill/>
        </p:spPr>
        <p:txBody>
          <a:bodyPr wrap="square" lIns="0" rIns="0" tIns="0" bIns="0" anchor="t">
            <a:spAutoFit/>
          </a:bodyPr>
          <a:lstStyle/>
          <a:p>
            <a:pPr algn="ctr">
              <a:lnSpc>
                <a:spcPct val="100000"/>
              </a:lnSpc>
              <a:spcBef>
                <a:spcPts val="0"/>
              </a:spcBef>
              <a:spcAft>
                <a:spcPts val="0"/>
              </a:spcAft>
            </a:pPr>
            <a:r>
              <a:rPr sz="1400" b="0">
                <a:solidFill>
                  <a:srgbClr val="8F9798"/>
                </a:solidFill>
                <a:latin typeface="Arial"/>
              </a:rPr>
              <a:t>A leak-free rematch of 46 non-chip transfers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D10"/>
        </a:solidFill>
        <a:effectLst/>
      </p:bgPr>
    </p:bg>
    <p:spTree>
      <p:nvGrpSpPr>
        <p:cNvPr id="1" name=""/>
        <p:cNvGrpSpPr/>
        <p:nvPr/>
      </p:nvGrpSpPr>
      <p:grpSpPr/>
      <p:sp>
        <p:nvSpPr>
          <p:cNvPr id="2" name="Title"/>
          <p:cNvSpPr txBox="1"/>
          <p:nvPr/>
        </p:nvSpPr>
        <p:spPr>
          <a:xfrm>
            <a:off x="685800" y="530352"/>
            <a:ext cx="10820095" cy="548640"/>
          </a:xfrm>
          <a:prstGeom prst="rect">
            <a:avLst/>
          </a:prstGeom>
          <a:noFill/>
        </p:spPr>
        <p:txBody>
          <a:bodyPr wrap="square" lIns="0" rIns="0" tIns="0" bIns="0" anchor="t">
            <a:spAutoFit/>
          </a:bodyPr>
          <a:lstStyle/>
          <a:p>
            <a:pPr algn="l">
              <a:lnSpc>
                <a:spcPct val="100000"/>
              </a:lnSpc>
              <a:spcBef>
                <a:spcPts val="0"/>
              </a:spcBef>
              <a:spcAft>
                <a:spcPts val="0"/>
              </a:spcAft>
            </a:pPr>
            <a:r>
              <a:rPr sz="3800" b="1">
                <a:solidFill>
                  <a:srgbClr val="F4EFE4"/>
                </a:solidFill>
                <a:latin typeface="Arial"/>
              </a:rPr>
              <a:t>One change: the rule can use your bank.</a:t>
            </a:r>
          </a:p>
        </p:txBody>
      </p:sp>
      <p:sp>
        <p:nvSpPr>
          <p:cNvPr id="3" name="Old cap label"/>
          <p:cNvSpPr txBox="1"/>
          <p:nvPr/>
        </p:nvSpPr>
        <p:spPr>
          <a:xfrm>
            <a:off x="731520" y="1600200"/>
            <a:ext cx="2926080" cy="274320"/>
          </a:xfrm>
          <a:prstGeom prst="rect">
            <a:avLst/>
          </a:prstGeom>
          <a:noFill/>
        </p:spPr>
        <p:txBody>
          <a:bodyPr wrap="square" lIns="0" rIns="0" tIns="0" bIns="0" anchor="t">
            <a:spAutoFit/>
          </a:bodyPr>
          <a:lstStyle/>
          <a:p>
            <a:pPr algn="l">
              <a:lnSpc>
                <a:spcPct val="100000"/>
              </a:lnSpc>
              <a:spcBef>
                <a:spcPts val="0"/>
              </a:spcBef>
              <a:spcAft>
                <a:spcPts val="0"/>
              </a:spcAft>
            </a:pPr>
            <a:r>
              <a:rPr sz="1300" b="1">
                <a:solidFill>
                  <a:srgbClr val="8F9798"/>
                </a:solidFill>
                <a:latin typeface="Arial"/>
              </a:rPr>
              <a:t>OLD CAP</a:t>
            </a:r>
          </a:p>
        </p:txBody>
      </p:sp>
      <p:sp>
        <p:nvSpPr>
          <p:cNvPr id="4" name="Old cap"/>
          <p:cNvSpPr txBox="1"/>
          <p:nvPr/>
        </p:nvSpPr>
        <p:spPr>
          <a:xfrm>
            <a:off x="731520" y="1993392"/>
            <a:ext cx="2926080" cy="502920"/>
          </a:xfrm>
          <a:prstGeom prst="rect">
            <a:avLst/>
          </a:prstGeom>
          <a:noFill/>
        </p:spPr>
        <p:txBody>
          <a:bodyPr wrap="square" lIns="0" rIns="0" tIns="0" bIns="0" anchor="t">
            <a:spAutoFit/>
          </a:bodyPr>
          <a:lstStyle/>
          <a:p>
            <a:pPr algn="l">
              <a:lnSpc>
                <a:spcPct val="100000"/>
              </a:lnSpc>
              <a:spcBef>
                <a:spcPts val="0"/>
              </a:spcBef>
              <a:spcAft>
                <a:spcPts val="0"/>
              </a:spcAft>
            </a:pPr>
            <a:r>
              <a:rPr sz="3000" b="1">
                <a:solidFill>
                  <a:srgbClr val="8F9798"/>
                </a:solidFill>
                <a:latin typeface="Arial"/>
              </a:rPr>
              <a:t>sale price</a:t>
            </a:r>
          </a:p>
        </p:txBody>
      </p:sp>
      <p:sp>
        <p:nvSpPr>
          <p:cNvPr id="5" name="New cap label"/>
          <p:cNvSpPr txBox="1"/>
          <p:nvPr/>
        </p:nvSpPr>
        <p:spPr>
          <a:xfrm>
            <a:off x="4480560" y="1600200"/>
            <a:ext cx="2926080" cy="274320"/>
          </a:xfrm>
          <a:prstGeom prst="rect">
            <a:avLst/>
          </a:prstGeom>
          <a:noFill/>
        </p:spPr>
        <p:txBody>
          <a:bodyPr wrap="square" lIns="0" rIns="0" tIns="0" bIns="0" anchor="t">
            <a:spAutoFit/>
          </a:bodyPr>
          <a:lstStyle/>
          <a:p>
            <a:pPr algn="l">
              <a:lnSpc>
                <a:spcPct val="100000"/>
              </a:lnSpc>
              <a:spcBef>
                <a:spcPts val="0"/>
              </a:spcBef>
              <a:spcAft>
                <a:spcPts val="0"/>
              </a:spcAft>
            </a:pPr>
            <a:r>
              <a:rPr sz="1300" b="1">
                <a:solidFill>
                  <a:srgbClr val="00D785"/>
                </a:solidFill>
                <a:latin typeface="Arial"/>
              </a:rPr>
              <a:t>FAIRER CAP</a:t>
            </a:r>
          </a:p>
        </p:txBody>
      </p:sp>
      <p:sp>
        <p:nvSpPr>
          <p:cNvPr id="6" name="New cap"/>
          <p:cNvSpPr txBox="1"/>
          <p:nvPr/>
        </p:nvSpPr>
        <p:spPr>
          <a:xfrm>
            <a:off x="4480560" y="1993392"/>
            <a:ext cx="3749039" cy="502920"/>
          </a:xfrm>
          <a:prstGeom prst="rect">
            <a:avLst/>
          </a:prstGeom>
          <a:noFill/>
        </p:spPr>
        <p:txBody>
          <a:bodyPr wrap="square" lIns="0" rIns="0" tIns="0" bIns="0" anchor="t">
            <a:spAutoFit/>
          </a:bodyPr>
          <a:lstStyle/>
          <a:p>
            <a:pPr algn="l">
              <a:lnSpc>
                <a:spcPct val="100000"/>
              </a:lnSpc>
              <a:spcBef>
                <a:spcPts val="0"/>
              </a:spcBef>
              <a:spcAft>
                <a:spcPts val="0"/>
              </a:spcAft>
            </a:pPr>
            <a:r>
              <a:rPr sz="3000" b="1">
                <a:solidFill>
                  <a:srgbClr val="00D785"/>
                </a:solidFill>
                <a:latin typeface="Arial"/>
              </a:rPr>
              <a:t>sale + T-1 bank</a:t>
            </a:r>
          </a:p>
        </p:txBody>
      </p:sp>
      <p:sp>
        <p:nvSpPr>
          <p:cNvPr id="7" name="Unchanged label"/>
          <p:cNvSpPr txBox="1"/>
          <p:nvPr/>
        </p:nvSpPr>
        <p:spPr>
          <a:xfrm>
            <a:off x="8549640" y="1600200"/>
            <a:ext cx="2560320" cy="274320"/>
          </a:xfrm>
          <a:prstGeom prst="rect">
            <a:avLst/>
          </a:prstGeom>
          <a:noFill/>
        </p:spPr>
        <p:txBody>
          <a:bodyPr wrap="square" lIns="0" rIns="0" tIns="0" bIns="0" anchor="t">
            <a:spAutoFit/>
          </a:bodyPr>
          <a:lstStyle/>
          <a:p>
            <a:pPr algn="l">
              <a:lnSpc>
                <a:spcPct val="100000"/>
              </a:lnSpc>
              <a:spcBef>
                <a:spcPts val="0"/>
              </a:spcBef>
              <a:spcAft>
                <a:spcPts val="0"/>
              </a:spcAft>
            </a:pPr>
            <a:r>
              <a:rPr sz="1300" b="1">
                <a:solidFill>
                  <a:srgbClr val="8F9798"/>
                </a:solidFill>
                <a:latin typeface="Arial"/>
              </a:rPr>
              <a:t>UNCHANGED</a:t>
            </a:r>
          </a:p>
        </p:txBody>
      </p:sp>
      <p:sp>
        <p:nvSpPr>
          <p:cNvPr id="8" name="Unchanged"/>
          <p:cNvSpPr txBox="1"/>
          <p:nvPr/>
        </p:nvSpPr>
        <p:spPr>
          <a:xfrm>
            <a:off x="8549640" y="1993392"/>
            <a:ext cx="2743200" cy="777240"/>
          </a:xfrm>
          <a:prstGeom prst="rect">
            <a:avLst/>
          </a:prstGeom>
          <a:noFill/>
        </p:spPr>
        <p:txBody>
          <a:bodyPr wrap="square" lIns="0" rIns="0" tIns="0" bIns="0" anchor="t">
            <a:spAutoFit/>
          </a:bodyPr>
          <a:lstStyle/>
          <a:p>
            <a:pPr algn="l">
              <a:lnSpc>
                <a:spcPct val="100000"/>
              </a:lnSpc>
              <a:spcBef>
                <a:spcPts val="0"/>
              </a:spcBef>
              <a:spcAft>
                <a:spcPts val="0"/>
              </a:spcAft>
            </a:pPr>
            <a:r>
              <a:rPr sz="2400" b="1">
                <a:solidFill>
                  <a:srgbClr val="F4EFE4"/>
                </a:solidFill>
                <a:latin typeface="Arial"/>
              </a:rPr>
              <a:t>filters, ranking, scoring</a:t>
            </a:r>
          </a:p>
        </p:txBody>
      </p:sp>
      <p:sp>
        <p:nvSpPr>
          <p:cNvPr id="9" name="Locked rule"/>
          <p:cNvSpPr txBox="1"/>
          <p:nvPr/>
        </p:nvSpPr>
        <p:spPr>
          <a:xfrm>
            <a:off x="731520" y="3794760"/>
            <a:ext cx="10698480" cy="365760"/>
          </a:xfrm>
          <a:prstGeom prst="rect">
            <a:avLst/>
          </a:prstGeom>
          <a:noFill/>
        </p:spPr>
        <p:txBody>
          <a:bodyPr wrap="square" lIns="0" rIns="0" tIns="0" bIns="0" anchor="t">
            <a:spAutoFit/>
          </a:bodyPr>
          <a:lstStyle/>
          <a:p>
            <a:pPr algn="l">
              <a:lnSpc>
                <a:spcPct val="100000"/>
              </a:lnSpc>
              <a:spcBef>
                <a:spcPts val="0"/>
              </a:spcBef>
              <a:spcAft>
                <a:spcPts val="0"/>
              </a:spcAft>
            </a:pPr>
            <a:r>
              <a:rPr sz="1700" b="0">
                <a:solidFill>
                  <a:srgbClr val="F4EFE4"/>
                </a:solidFill>
                <a:latin typeface="Arial"/>
              </a:rPr>
              <a:t>Position match  |  prior squad exclusion  |  45+ prior mean minutes  |  prior 4-GW form</a:t>
            </a:r>
          </a:p>
        </p:txBody>
      </p:sp>
      <p:sp>
        <p:nvSpPr>
          <p:cNvPr id="10" name="Method footer"/>
          <p:cNvSpPr txBox="1"/>
          <p:nvPr/>
        </p:nvSpPr>
        <p:spPr>
          <a:xfrm>
            <a:off x="731520" y="5285232"/>
            <a:ext cx="10698480" cy="310896"/>
          </a:xfrm>
          <a:prstGeom prst="rect">
            <a:avLst/>
          </a:prstGeom>
          <a:noFill/>
        </p:spPr>
        <p:txBody>
          <a:bodyPr wrap="square" lIns="0" rIns="0" tIns="0" bIns="0" anchor="t">
            <a:spAutoFit/>
          </a:bodyPr>
          <a:lstStyle/>
          <a:p>
            <a:pPr algn="l">
              <a:lnSpc>
                <a:spcPct val="100000"/>
              </a:lnSpc>
              <a:spcBef>
                <a:spcPts val="0"/>
              </a:spcBef>
              <a:spcAft>
                <a:spcPts val="0"/>
              </a:spcAft>
            </a:pPr>
            <a:r>
              <a:rPr sz="1400" b="0">
                <a:solidFill>
                  <a:srgbClr val="8F9798"/>
                </a:solidFill>
                <a:latin typeface="Arial"/>
              </a:rPr>
              <a:t>46 transfers  |  chip GWs 6, 13, 23, 34 excluded  |  windows stay [T-4, 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D10"/>
        </a:solidFill>
        <a:effectLst/>
      </p:bgPr>
    </p:bg>
    <p:spTree>
      <p:nvGrpSpPr>
        <p:cNvPr id="1" name=""/>
        <p:cNvGrpSpPr/>
        <p:nvPr/>
      </p:nvGrpSpPr>
      <p:grpSpPr/>
      <p:sp>
        <p:nvSpPr>
          <p:cNvPr id="2" name="Title"/>
          <p:cNvSpPr txBox="1"/>
          <p:nvPr/>
        </p:nvSpPr>
        <p:spPr>
          <a:xfrm>
            <a:off x="685800" y="530352"/>
            <a:ext cx="10820095" cy="548640"/>
          </a:xfrm>
          <a:prstGeom prst="rect">
            <a:avLst/>
          </a:prstGeom>
          <a:noFill/>
        </p:spPr>
        <p:txBody>
          <a:bodyPr wrap="square" lIns="0" rIns="0" tIns="0" bIns="0" anchor="t">
            <a:spAutoFit/>
          </a:bodyPr>
          <a:lstStyle/>
          <a:p>
            <a:pPr algn="l">
              <a:lnSpc>
                <a:spcPct val="100000"/>
              </a:lnSpc>
              <a:spcBef>
                <a:spcPts val="0"/>
              </a:spcBef>
              <a:spcAft>
                <a:spcPts val="0"/>
              </a:spcAft>
            </a:pPr>
            <a:r>
              <a:rPr sz="4000" b="1">
                <a:solidFill>
                  <a:srgbClr val="F4EFE4"/>
                </a:solidFill>
                <a:latin typeface="Arial"/>
              </a:rPr>
              <a:t>The fair budget did not close the gap.</a:t>
            </a:r>
          </a:p>
        </p:txBody>
      </p:sp>
      <p:sp>
        <p:nvSpPr>
          <p:cNvPr id="3" name="Stat label"/>
          <p:cNvSpPr txBox="1"/>
          <p:nvPr/>
        </p:nvSpPr>
        <p:spPr>
          <a:xfrm>
            <a:off x="731520" y="1664208"/>
            <a:ext cx="4480560" cy="256032"/>
          </a:xfrm>
          <a:prstGeom prst="rect">
            <a:avLst/>
          </a:prstGeom>
          <a:noFill/>
        </p:spPr>
        <p:txBody>
          <a:bodyPr wrap="square" lIns="0" rIns="0" tIns="0" bIns="0" anchor="t">
            <a:spAutoFit/>
          </a:bodyPr>
          <a:lstStyle/>
          <a:p>
            <a:pPr algn="l">
              <a:lnSpc>
                <a:spcPct val="100000"/>
              </a:lnSpc>
              <a:spcBef>
                <a:spcPts val="0"/>
              </a:spcBef>
              <a:spcAft>
                <a:spcPts val="0"/>
              </a:spcAft>
            </a:pPr>
            <a:r>
              <a:rPr sz="1300" b="1">
                <a:solidFill>
                  <a:srgbClr val="8F9798"/>
                </a:solidFill>
                <a:latin typeface="Arial"/>
              </a:rPr>
              <a:t>RULE MINUS ACTUAL</a:t>
            </a:r>
          </a:p>
        </p:txBody>
      </p:sp>
      <p:sp>
        <p:nvSpPr>
          <p:cNvPr id="4" name="Big stat"/>
          <p:cNvSpPr txBox="1"/>
          <p:nvPr/>
        </p:nvSpPr>
        <p:spPr>
          <a:xfrm>
            <a:off x="685800" y="1993392"/>
            <a:ext cx="4846320" cy="1051560"/>
          </a:xfrm>
          <a:prstGeom prst="rect">
            <a:avLst/>
          </a:prstGeom>
          <a:noFill/>
        </p:spPr>
        <p:txBody>
          <a:bodyPr wrap="square" lIns="0" rIns="0" tIns="0" bIns="0" anchor="t">
            <a:spAutoFit/>
          </a:bodyPr>
          <a:lstStyle/>
          <a:p>
            <a:pPr algn="l">
              <a:lnSpc>
                <a:spcPct val="100000"/>
              </a:lnSpc>
              <a:spcBef>
                <a:spcPts val="0"/>
              </a:spcBef>
              <a:spcAft>
                <a:spcPts val="0"/>
              </a:spcAft>
            </a:pPr>
            <a:r>
              <a:rPr sz="7600" b="1">
                <a:solidFill>
                  <a:srgbClr val="00D785"/>
                </a:solidFill>
                <a:latin typeface="Arial"/>
              </a:rPr>
              <a:t>-197</a:t>
            </a:r>
          </a:p>
        </p:txBody>
      </p:sp>
      <p:sp>
        <p:nvSpPr>
          <p:cNvPr id="5" name="Totals"/>
          <p:cNvSpPr txBox="1"/>
          <p:nvPr/>
        </p:nvSpPr>
        <p:spPr>
          <a:xfrm>
            <a:off x="6446520" y="1920240"/>
            <a:ext cx="4389120" cy="1188720"/>
          </a:xfrm>
          <a:prstGeom prst="rect">
            <a:avLst/>
          </a:prstGeom>
          <a:noFill/>
        </p:spPr>
        <p:txBody>
          <a:bodyPr wrap="square" lIns="0" rIns="0" tIns="0" bIns="0" anchor="t">
            <a:spAutoFit/>
          </a:bodyPr>
          <a:lstStyle/>
          <a:p>
            <a:pPr algn="l">
              <a:lnSpc>
                <a:spcPct val="122000"/>
              </a:lnSpc>
              <a:spcBef>
                <a:spcPts val="0"/>
              </a:spcBef>
              <a:spcAft>
                <a:spcPts val="0"/>
              </a:spcAft>
            </a:pPr>
            <a:r>
              <a:rPr sz="2800" b="1">
                <a:solidFill>
                  <a:srgbClr val="F4EFE4"/>
                </a:solidFill>
                <a:latin typeface="Arial"/>
              </a:rPr>
              <a:t>784 actual points
587 rule points</a:t>
            </a:r>
          </a:p>
        </p:txBody>
      </p:sp>
      <p:sp>
        <p:nvSpPr>
          <p:cNvPr id="6" name="Sample"/>
          <p:cNvSpPr txBox="1"/>
          <p:nvPr/>
        </p:nvSpPr>
        <p:spPr>
          <a:xfrm>
            <a:off x="6446520" y="3401568"/>
            <a:ext cx="4663440" cy="365760"/>
          </a:xfrm>
          <a:prstGeom prst="rect">
            <a:avLst/>
          </a:prstGeom>
          <a:noFill/>
        </p:spPr>
        <p:txBody>
          <a:bodyPr wrap="square" lIns="0" rIns="0" tIns="0" bIns="0" anchor="t">
            <a:spAutoFit/>
          </a:bodyPr>
          <a:lstStyle/>
          <a:p>
            <a:pPr algn="l">
              <a:lnSpc>
                <a:spcPct val="100000"/>
              </a:lnSpc>
              <a:spcBef>
                <a:spcPts val="0"/>
              </a:spcBef>
              <a:spcAft>
                <a:spcPts val="0"/>
              </a:spcAft>
            </a:pPr>
            <a:r>
              <a:rPr sz="1600" b="0">
                <a:solidFill>
                  <a:srgbClr val="8F9798"/>
                </a:solidFill>
                <a:latin typeface="Arial"/>
              </a:rPr>
              <a:t>45 scored transfers  |  -4.38 per transfer</a:t>
            </a:r>
          </a:p>
        </p:txBody>
      </p:sp>
      <p:sp>
        <p:nvSpPr>
          <p:cNvPr id="7" name="Comparison"/>
          <p:cNvSpPr txBox="1"/>
          <p:nvPr/>
        </p:nvSpPr>
        <p:spPr>
          <a:xfrm>
            <a:off x="731520" y="5102352"/>
            <a:ext cx="10698480" cy="457200"/>
          </a:xfrm>
          <a:prstGeom prst="rect">
            <a:avLst/>
          </a:prstGeom>
          <a:noFill/>
        </p:spPr>
        <p:txBody>
          <a:bodyPr wrap="square" lIns="0" rIns="0" tIns="0" bIns="0" anchor="t">
            <a:spAutoFit/>
          </a:bodyPr>
          <a:lstStyle/>
          <a:p>
            <a:pPr algn="l">
              <a:lnSpc>
                <a:spcPct val="100000"/>
              </a:lnSpc>
              <a:spcBef>
                <a:spcPts val="0"/>
              </a:spcBef>
              <a:spcAft>
                <a:spcPts val="0"/>
              </a:spcAft>
            </a:pPr>
            <a:r>
              <a:rPr sz="1800" b="0">
                <a:solidFill>
                  <a:srgbClr val="8F9798"/>
                </a:solidFill>
                <a:latin typeface="Arial"/>
              </a:rPr>
              <a:t>The sale-only rule was -191. The added bank changed 13 picks and cost 6 more points.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D10"/>
        </a:solidFill>
        <a:effectLst/>
      </p:bgPr>
    </p:bg>
    <p:spTree>
      <p:nvGrpSpPr>
        <p:cNvPr id="1" name=""/>
        <p:cNvGrpSpPr/>
        <p:nvPr/>
      </p:nvGrpSpPr>
      <p:grpSpPr/>
      <p:pic>
        <p:nvPicPr>
          <p:cNvPr id="2" name="Before and after gap chart" descr="chart_1_before_after.png"/>
          <p:cNvPicPr>
            <a:picLocks noChangeAspect="1"/>
          </p:cNvPicPr>
          <p:nvPr/>
        </p:nvPicPr>
        <p:blipFill>
          <a:blip r:embed="rId2"/>
          <a:stretch>
            <a:fillRect/>
          </a:stretch>
        </p:blipFill>
        <p:spPr>
          <a:xfrm>
            <a:off x="457200" y="609676"/>
            <a:ext cx="11277295" cy="5638647"/>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D10"/>
        </a:solidFill>
        <a:effectLst/>
      </p:bgPr>
    </p:bg>
    <p:spTree>
      <p:nvGrpSpPr>
        <p:cNvPr id="1" name=""/>
        <p:cNvGrpSpPr/>
        <p:nvPr/>
      </p:nvGrpSpPr>
      <p:grpSpPr/>
      <p:pic>
        <p:nvPicPr>
          <p:cNvPr id="2" name="Outcome record chart" descr="chart_2_outcome.png"/>
          <p:cNvPicPr>
            <a:picLocks noChangeAspect="1"/>
          </p:cNvPicPr>
          <p:nvPr/>
        </p:nvPicPr>
        <p:blipFill>
          <a:blip r:embed="rId2"/>
          <a:stretch>
            <a:fillRect/>
          </a:stretch>
        </p:blipFill>
        <p:spPr>
          <a:xfrm>
            <a:off x="457200" y="609676"/>
            <a:ext cx="11277295" cy="5638647"/>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D10"/>
        </a:solidFill>
        <a:effectLst/>
      </p:bgPr>
    </p:bg>
    <p:spTree>
      <p:nvGrpSpPr>
        <p:cNvPr id="1" name=""/>
        <p:cNvGrpSpPr/>
        <p:nvPr/>
      </p:nvGrpSpPr>
      <p:grpSpPr/>
      <p:pic>
        <p:nvPicPr>
          <p:cNvPr id="2" name="Pick change chart" descr="chart_3_pick_changes.png"/>
          <p:cNvPicPr>
            <a:picLocks noChangeAspect="1"/>
          </p:cNvPicPr>
          <p:nvPr/>
        </p:nvPicPr>
        <p:blipFill>
          <a:blip r:embed="rId2"/>
          <a:stretch>
            <a:fillRect/>
          </a:stretch>
        </p:blipFill>
        <p:spPr>
          <a:xfrm>
            <a:off x="457200" y="609676"/>
            <a:ext cx="11277295" cy="5638647"/>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D10"/>
        </a:solidFill>
        <a:effectLst/>
      </p:bgPr>
    </p:bg>
    <p:spTree>
      <p:nvGrpSpPr>
        <p:cNvPr id="1" name=""/>
        <p:cNvGrpSpPr/>
        <p:nvPr/>
      </p:nvGrpSpPr>
      <p:grpSpPr/>
      <p:pic>
        <p:nvPicPr>
          <p:cNvPr id="2" name="Three biggest misses chart" descr="chart_4_big_losses.png"/>
          <p:cNvPicPr>
            <a:picLocks noChangeAspect="1"/>
          </p:cNvPicPr>
          <p:nvPr/>
        </p:nvPicPr>
        <p:blipFill>
          <a:blip r:embed="rId2"/>
          <a:stretch>
            <a:fillRect/>
          </a:stretch>
        </p:blipFill>
        <p:spPr>
          <a:xfrm>
            <a:off x="457200" y="609676"/>
            <a:ext cx="11277295" cy="5638647"/>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D10"/>
        </a:solidFill>
        <a:effectLst/>
      </p:bgPr>
    </p:bg>
    <p:spTree>
      <p:nvGrpSpPr>
        <p:cNvPr id="1" name=""/>
        <p:cNvGrpSpPr/>
        <p:nvPr/>
      </p:nvGrpSpPr>
      <p:grpSpPr/>
      <p:sp>
        <p:nvSpPr>
          <p:cNvPr id="2" name="Title"/>
          <p:cNvSpPr txBox="1"/>
          <p:nvPr/>
        </p:nvSpPr>
        <p:spPr>
          <a:xfrm>
            <a:off x="685800" y="530352"/>
            <a:ext cx="10820095" cy="548640"/>
          </a:xfrm>
          <a:prstGeom prst="rect">
            <a:avLst/>
          </a:prstGeom>
          <a:noFill/>
        </p:spPr>
        <p:txBody>
          <a:bodyPr wrap="square" lIns="0" rIns="0" tIns="0" bIns="0" anchor="t">
            <a:spAutoFit/>
          </a:bodyPr>
          <a:lstStyle/>
          <a:p>
            <a:pPr algn="l">
              <a:lnSpc>
                <a:spcPct val="100000"/>
              </a:lnSpc>
              <a:spcBef>
                <a:spcPts val="0"/>
              </a:spcBef>
              <a:spcAft>
                <a:spcPts val="0"/>
              </a:spcAft>
            </a:pPr>
            <a:r>
              <a:rPr sz="4000" b="1">
                <a:solidFill>
                  <a:srgbClr val="F4EFE4"/>
                </a:solidFill>
                <a:latin typeface="Arial"/>
              </a:rPr>
              <a:t>Two things a bigger budget cannot buy.</a:t>
            </a:r>
          </a:p>
        </p:txBody>
      </p:sp>
      <p:sp>
        <p:nvSpPr>
          <p:cNvPr id="3" name="Pool stat"/>
          <p:cNvSpPr txBox="1"/>
          <p:nvPr/>
        </p:nvSpPr>
        <p:spPr>
          <a:xfrm>
            <a:off x="731520" y="1828800"/>
            <a:ext cx="4937760" cy="914400"/>
          </a:xfrm>
          <a:prstGeom prst="rect">
            <a:avLst/>
          </a:prstGeom>
          <a:noFill/>
        </p:spPr>
        <p:txBody>
          <a:bodyPr wrap="square" lIns="0" rIns="0" tIns="0" bIns="0" anchor="t">
            <a:spAutoFit/>
          </a:bodyPr>
          <a:lstStyle/>
          <a:p>
            <a:pPr algn="l">
              <a:lnSpc>
                <a:spcPct val="100000"/>
              </a:lnSpc>
              <a:spcBef>
                <a:spcPts val="0"/>
              </a:spcBef>
              <a:spcAft>
                <a:spcPts val="0"/>
              </a:spcAft>
            </a:pPr>
            <a:r>
              <a:rPr sz="6000" b="1">
                <a:solidFill>
                  <a:srgbClr val="00D785"/>
                </a:solidFill>
                <a:latin typeface="Arial"/>
              </a:rPr>
              <a:t>11 of 46</a:t>
            </a:r>
          </a:p>
        </p:txBody>
      </p:sp>
      <p:sp>
        <p:nvSpPr>
          <p:cNvPr id="4" name="Pool label"/>
          <p:cNvSpPr txBox="1"/>
          <p:nvPr/>
        </p:nvSpPr>
        <p:spPr>
          <a:xfrm>
            <a:off x="777240" y="2788920"/>
            <a:ext cx="5029200" cy="274320"/>
          </a:xfrm>
          <a:prstGeom prst="rect">
            <a:avLst/>
          </a:prstGeom>
          <a:noFill/>
        </p:spPr>
        <p:txBody>
          <a:bodyPr wrap="square" lIns="0" rIns="0" tIns="0" bIns="0" anchor="t">
            <a:spAutoFit/>
          </a:bodyPr>
          <a:lstStyle/>
          <a:p>
            <a:pPr algn="l">
              <a:lnSpc>
                <a:spcPct val="100000"/>
              </a:lnSpc>
              <a:spcBef>
                <a:spcPts val="0"/>
              </a:spcBef>
              <a:spcAft>
                <a:spcPts val="0"/>
              </a:spcAft>
            </a:pPr>
            <a:r>
              <a:rPr sz="1400" b="1">
                <a:solidFill>
                  <a:srgbClr val="00D785"/>
                </a:solidFill>
                <a:latin typeface="Arial"/>
              </a:rPr>
              <a:t>BUYS THE RULE CANNOT MAKE</a:t>
            </a:r>
          </a:p>
        </p:txBody>
      </p:sp>
      <p:sp>
        <p:nvSpPr>
          <p:cNvPr id="5" name="Pool caption"/>
          <p:cNvSpPr txBox="1"/>
          <p:nvPr/>
        </p:nvSpPr>
        <p:spPr>
          <a:xfrm>
            <a:off x="777240" y="3200400"/>
            <a:ext cx="4937760" cy="1280160"/>
          </a:xfrm>
          <a:prstGeom prst="rect">
            <a:avLst/>
          </a:prstGeom>
          <a:noFill/>
        </p:spPr>
        <p:txBody>
          <a:bodyPr wrap="square" lIns="0" rIns="0" tIns="0" bIns="0" anchor="t">
            <a:spAutoFit/>
          </a:bodyPr>
          <a:lstStyle/>
          <a:p>
            <a:pPr algn="l">
              <a:lnSpc>
                <a:spcPct val="120000"/>
              </a:lnSpc>
              <a:spcBef>
                <a:spcPts val="0"/>
              </a:spcBef>
              <a:spcAft>
                <a:spcPts val="0"/>
              </a:spcAft>
            </a:pPr>
            <a:r>
              <a:rPr sz="1500" b="0">
                <a:solidFill>
                  <a:srgbClr val="8F9798"/>
                </a:solidFill>
                <a:latin typeface="Arial"/>
              </a:rPr>
              <a:t>Injury and rotation returns like Gabriel (24 min) and Saka (29 min) fail a mechanical 45-minute filter, even when affordable.</a:t>
            </a:r>
          </a:p>
        </p:txBody>
      </p:sp>
      <p:sp>
        <p:nvSpPr>
          <p:cNvPr id="6" name="Signal stat"/>
          <p:cNvSpPr txBox="1"/>
          <p:nvPr/>
        </p:nvSpPr>
        <p:spPr>
          <a:xfrm>
            <a:off x="6172200" y="1828800"/>
            <a:ext cx="5303520" cy="914400"/>
          </a:xfrm>
          <a:prstGeom prst="rect">
            <a:avLst/>
          </a:prstGeom>
          <a:noFill/>
        </p:spPr>
        <p:txBody>
          <a:bodyPr wrap="square" lIns="0" rIns="0" tIns="0" bIns="0" anchor="t">
            <a:spAutoFit/>
          </a:bodyPr>
          <a:lstStyle/>
          <a:p>
            <a:pPr algn="l">
              <a:lnSpc>
                <a:spcPct val="100000"/>
              </a:lnSpc>
              <a:spcBef>
                <a:spcPts val="0"/>
              </a:spcBef>
              <a:spcAft>
                <a:spcPts val="0"/>
              </a:spcAft>
            </a:pPr>
            <a:r>
              <a:rPr sz="4800" b="1">
                <a:solidFill>
                  <a:srgbClr val="F4EFE4"/>
                </a:solidFill>
                <a:latin typeface="Arial"/>
              </a:rPr>
              <a:t>+0.35 vs +0.19</a:t>
            </a:r>
          </a:p>
        </p:txBody>
      </p:sp>
      <p:sp>
        <p:nvSpPr>
          <p:cNvPr id="7" name="Signal label"/>
          <p:cNvSpPr txBox="1"/>
          <p:nvPr/>
        </p:nvSpPr>
        <p:spPr>
          <a:xfrm>
            <a:off x="6217920" y="2788920"/>
            <a:ext cx="5029200" cy="274320"/>
          </a:xfrm>
          <a:prstGeom prst="rect">
            <a:avLst/>
          </a:prstGeom>
          <a:noFill/>
        </p:spPr>
        <p:txBody>
          <a:bodyPr wrap="square" lIns="0" rIns="0" tIns="0" bIns="0" anchor="t">
            <a:spAutoFit/>
          </a:bodyPr>
          <a:lstStyle/>
          <a:p>
            <a:pPr algn="l">
              <a:lnSpc>
                <a:spcPct val="100000"/>
              </a:lnSpc>
              <a:spcBef>
                <a:spcPts val="0"/>
              </a:spcBef>
              <a:spcAft>
                <a:spcPts val="0"/>
              </a:spcAft>
            </a:pPr>
            <a:r>
              <a:rPr sz="1400" b="1">
                <a:solidFill>
                  <a:srgbClr val="8F9798"/>
                </a:solidFill>
                <a:latin typeface="Arial"/>
              </a:rPr>
              <a:t>xGI BEATS FORM</a:t>
            </a:r>
          </a:p>
        </p:txBody>
      </p:sp>
      <p:sp>
        <p:nvSpPr>
          <p:cNvPr id="8" name="Signal caption"/>
          <p:cNvSpPr txBox="1"/>
          <p:nvPr/>
        </p:nvSpPr>
        <p:spPr>
          <a:xfrm>
            <a:off x="6217920" y="3200400"/>
            <a:ext cx="5120640" cy="1280160"/>
          </a:xfrm>
          <a:prstGeom prst="rect">
            <a:avLst/>
          </a:prstGeom>
          <a:noFill/>
        </p:spPr>
        <p:txBody>
          <a:bodyPr wrap="square" lIns="0" rIns="0" tIns="0" bIns="0" anchor="t">
            <a:spAutoFit/>
          </a:bodyPr>
          <a:lstStyle/>
          <a:p>
            <a:pPr algn="l">
              <a:lnSpc>
                <a:spcPct val="120000"/>
              </a:lnSpc>
              <a:spcBef>
                <a:spcPts val="0"/>
              </a:spcBef>
              <a:spcAft>
                <a:spcPts val="0"/>
              </a:spcAft>
            </a:pPr>
            <a:r>
              <a:rPr sz="1500" b="0">
                <a:solidFill>
                  <a:srgbClr val="8F9798"/>
                </a:solidFill>
                <a:latin typeface="Arial"/>
              </a:rPr>
              <a:t>Trailing xGI ranks an attacker's next 4 gameweeks of goals about twice as well as trailing form (Spearman, prior study). The rule ranks by the weaker signal.</a:t>
            </a:r>
          </a:p>
        </p:txBody>
      </p:sp>
      <p:sp>
        <p:nvSpPr>
          <p:cNvPr id="9" name="Context"/>
          <p:cNvSpPr txBox="1"/>
          <p:nvPr/>
        </p:nvSpPr>
        <p:spPr>
          <a:xfrm>
            <a:off x="731520" y="5257800"/>
            <a:ext cx="10698480" cy="457200"/>
          </a:xfrm>
          <a:prstGeom prst="rect">
            <a:avLst/>
          </a:prstGeom>
          <a:noFill/>
        </p:spPr>
        <p:txBody>
          <a:bodyPr wrap="square" lIns="0" rIns="0" tIns="0" bIns="0" anchor="t">
            <a:spAutoFit/>
          </a:bodyPr>
          <a:lstStyle/>
          <a:p>
            <a:pPr algn="l">
              <a:lnSpc>
                <a:spcPct val="100000"/>
              </a:lnSpc>
              <a:spcBef>
                <a:spcPts val="0"/>
              </a:spcBef>
              <a:spcAft>
                <a:spcPts val="0"/>
              </a:spcAft>
            </a:pPr>
            <a:r>
              <a:rPr sz="1700" b="0">
                <a:solidFill>
                  <a:srgbClr val="F4EFE4"/>
                </a:solidFill>
                <a:latin typeface="Arial"/>
              </a:rPr>
              <a:t>You backed players a filter rejects and read situations a form score misses. Money does not close that.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D10"/>
        </a:solidFill>
        <a:effectLst/>
      </p:bgPr>
    </p:bg>
    <p:spTree>
      <p:nvGrpSpPr>
        <p:cNvPr id="1" name=""/>
        <p:cNvGrpSpPr/>
        <p:nvPr/>
      </p:nvGrpSpPr>
      <p:grpSpPr/>
      <p:sp>
        <p:nvSpPr>
          <p:cNvPr id="2" name="Title"/>
          <p:cNvSpPr txBox="1"/>
          <p:nvPr/>
        </p:nvSpPr>
        <p:spPr>
          <a:xfrm>
            <a:off x="685800" y="530352"/>
            <a:ext cx="10820095" cy="548640"/>
          </a:xfrm>
          <a:prstGeom prst="rect">
            <a:avLst/>
          </a:prstGeom>
          <a:noFill/>
        </p:spPr>
        <p:txBody>
          <a:bodyPr wrap="square" lIns="0" rIns="0" tIns="0" bIns="0" anchor="t">
            <a:spAutoFit/>
          </a:bodyPr>
          <a:lstStyle/>
          <a:p>
            <a:pPr algn="l">
              <a:lnSpc>
                <a:spcPct val="100000"/>
              </a:lnSpc>
              <a:spcBef>
                <a:spcPts val="0"/>
              </a:spcBef>
              <a:spcAft>
                <a:spcPts val="0"/>
              </a:spcAft>
            </a:pPr>
            <a:r>
              <a:rPr sz="4000" b="1">
                <a:solidFill>
                  <a:srgbClr val="F4EFE4"/>
                </a:solidFill>
                <a:latin typeface="Arial"/>
              </a:rPr>
              <a:t>Use it to shortlist, not to decide.</a:t>
            </a:r>
          </a:p>
        </p:txBody>
      </p:sp>
      <p:sp>
        <p:nvSpPr>
          <p:cNvPr id="3" name="Action 1 number"/>
          <p:cNvSpPr txBox="1"/>
          <p:nvPr/>
        </p:nvSpPr>
        <p:spPr>
          <a:xfrm>
            <a:off x="731520" y="1417320"/>
            <a:ext cx="411480" cy="384048"/>
          </a:xfrm>
          <a:prstGeom prst="rect">
            <a:avLst/>
          </a:prstGeom>
          <a:noFill/>
        </p:spPr>
        <p:txBody>
          <a:bodyPr wrap="square" lIns="0" rIns="0" tIns="0" bIns="0" anchor="t">
            <a:spAutoFit/>
          </a:bodyPr>
          <a:lstStyle/>
          <a:p>
            <a:pPr algn="l">
              <a:lnSpc>
                <a:spcPct val="100000"/>
              </a:lnSpc>
              <a:spcBef>
                <a:spcPts val="0"/>
              </a:spcBef>
              <a:spcAft>
                <a:spcPts val="0"/>
              </a:spcAft>
            </a:pPr>
            <a:r>
              <a:rPr sz="2200" b="1">
                <a:solidFill>
                  <a:srgbClr val="8F9798"/>
                </a:solidFill>
                <a:latin typeface="Arial"/>
              </a:rPr>
              <a:t>1</a:t>
            </a:r>
          </a:p>
        </p:txBody>
      </p:sp>
      <p:sp>
        <p:nvSpPr>
          <p:cNvPr id="4" name="Action 1 heading"/>
          <p:cNvSpPr txBox="1"/>
          <p:nvPr/>
        </p:nvSpPr>
        <p:spPr>
          <a:xfrm>
            <a:off x="1325880" y="1417320"/>
            <a:ext cx="9052560" cy="365760"/>
          </a:xfrm>
          <a:prstGeom prst="rect">
            <a:avLst/>
          </a:prstGeom>
          <a:noFill/>
        </p:spPr>
        <p:txBody>
          <a:bodyPr wrap="square" lIns="0" rIns="0" tIns="0" bIns="0" anchor="t">
            <a:spAutoFit/>
          </a:bodyPr>
          <a:lstStyle/>
          <a:p>
            <a:pPr algn="l">
              <a:lnSpc>
                <a:spcPct val="100000"/>
              </a:lnSpc>
              <a:spcBef>
                <a:spcPts val="0"/>
              </a:spcBef>
              <a:spcAft>
                <a:spcPts val="0"/>
              </a:spcAft>
            </a:pPr>
            <a:r>
              <a:rPr sz="2300" b="1">
                <a:solidFill>
                  <a:srgbClr val="00D785"/>
                </a:solidFill>
                <a:latin typeface="Arial"/>
              </a:rPr>
              <a:t>Use all package cash.</a:t>
            </a:r>
          </a:p>
        </p:txBody>
      </p:sp>
      <p:sp>
        <p:nvSpPr>
          <p:cNvPr id="5" name="Action 1 body"/>
          <p:cNvSpPr txBox="1"/>
          <p:nvPr/>
        </p:nvSpPr>
        <p:spPr>
          <a:xfrm>
            <a:off x="1325880" y="1837944"/>
            <a:ext cx="9509760" cy="310896"/>
          </a:xfrm>
          <a:prstGeom prst="rect">
            <a:avLst/>
          </a:prstGeom>
          <a:noFill/>
        </p:spPr>
        <p:txBody>
          <a:bodyPr wrap="square" lIns="0" rIns="0" tIns="0" bIns="0" anchor="t">
            <a:spAutoFit/>
          </a:bodyPr>
          <a:lstStyle/>
          <a:p>
            <a:pPr algn="l">
              <a:lnSpc>
                <a:spcPct val="100000"/>
              </a:lnSpc>
              <a:spcBef>
                <a:spcPts val="0"/>
              </a:spcBef>
              <a:spcAft>
                <a:spcPts val="0"/>
              </a:spcAft>
            </a:pPr>
            <a:r>
              <a:rPr sz="1600" b="0">
                <a:solidFill>
                  <a:srgbClr val="8F9798"/>
                </a:solidFill>
                <a:latin typeface="Arial"/>
              </a:rPr>
              <a:t>Count the bank and cash released by every planned sale.</a:t>
            </a:r>
          </a:p>
        </p:txBody>
      </p:sp>
      <p:sp>
        <p:nvSpPr>
          <p:cNvPr id="6" name="Action 2 number"/>
          <p:cNvSpPr txBox="1"/>
          <p:nvPr/>
        </p:nvSpPr>
        <p:spPr>
          <a:xfrm>
            <a:off x="731520" y="2532888"/>
            <a:ext cx="411480" cy="384048"/>
          </a:xfrm>
          <a:prstGeom prst="rect">
            <a:avLst/>
          </a:prstGeom>
          <a:noFill/>
        </p:spPr>
        <p:txBody>
          <a:bodyPr wrap="square" lIns="0" rIns="0" tIns="0" bIns="0" anchor="t">
            <a:spAutoFit/>
          </a:bodyPr>
          <a:lstStyle/>
          <a:p>
            <a:pPr algn="l">
              <a:lnSpc>
                <a:spcPct val="100000"/>
              </a:lnSpc>
              <a:spcBef>
                <a:spcPts val="0"/>
              </a:spcBef>
              <a:spcAft>
                <a:spcPts val="0"/>
              </a:spcAft>
            </a:pPr>
            <a:r>
              <a:rPr sz="2200" b="1">
                <a:solidFill>
                  <a:srgbClr val="8F9798"/>
                </a:solidFill>
                <a:latin typeface="Arial"/>
              </a:rPr>
              <a:t>2</a:t>
            </a:r>
          </a:p>
        </p:txBody>
      </p:sp>
      <p:sp>
        <p:nvSpPr>
          <p:cNvPr id="7" name="Action 2 heading"/>
          <p:cNvSpPr txBox="1"/>
          <p:nvPr/>
        </p:nvSpPr>
        <p:spPr>
          <a:xfrm>
            <a:off x="1325880" y="2532888"/>
            <a:ext cx="9052560" cy="365760"/>
          </a:xfrm>
          <a:prstGeom prst="rect">
            <a:avLst/>
          </a:prstGeom>
          <a:noFill/>
        </p:spPr>
        <p:txBody>
          <a:bodyPr wrap="square" lIns="0" rIns="0" tIns="0" bIns="0" anchor="t">
            <a:spAutoFit/>
          </a:bodyPr>
          <a:lstStyle/>
          <a:p>
            <a:pPr algn="l">
              <a:lnSpc>
                <a:spcPct val="100000"/>
              </a:lnSpc>
              <a:spcBef>
                <a:spcPts val="0"/>
              </a:spcBef>
              <a:spcAft>
                <a:spcPts val="0"/>
              </a:spcAft>
            </a:pPr>
            <a:r>
              <a:rPr sz="2300" b="1">
                <a:solidFill>
                  <a:srgbClr val="F4EFE4"/>
                </a:solidFill>
                <a:latin typeface="Arial"/>
              </a:rPr>
              <a:t>Screen attackers with trailing xGI.</a:t>
            </a:r>
          </a:p>
        </p:txBody>
      </p:sp>
      <p:sp>
        <p:nvSpPr>
          <p:cNvPr id="8" name="Action 2 body"/>
          <p:cNvSpPr txBox="1"/>
          <p:nvPr/>
        </p:nvSpPr>
        <p:spPr>
          <a:xfrm>
            <a:off x="1325880" y="2953512"/>
            <a:ext cx="9509760" cy="310896"/>
          </a:xfrm>
          <a:prstGeom prst="rect">
            <a:avLst/>
          </a:prstGeom>
          <a:noFill/>
        </p:spPr>
        <p:txBody>
          <a:bodyPr wrap="square" lIns="0" rIns="0" tIns="0" bIns="0" anchor="t">
            <a:spAutoFit/>
          </a:bodyPr>
          <a:lstStyle/>
          <a:p>
            <a:pPr algn="l">
              <a:lnSpc>
                <a:spcPct val="100000"/>
              </a:lnSpc>
              <a:spcBef>
                <a:spcPts val="0"/>
              </a:spcBef>
              <a:spcAft>
                <a:spcPts val="0"/>
              </a:spcAft>
            </a:pPr>
            <a:r>
              <a:rPr sz="1600" b="0">
                <a:solidFill>
                  <a:srgbClr val="8F9798"/>
                </a:solidFill>
                <a:latin typeface="Arial"/>
              </a:rPr>
              <a:t>Use recent FPL points as context, not the engine.</a:t>
            </a:r>
          </a:p>
        </p:txBody>
      </p:sp>
      <p:sp>
        <p:nvSpPr>
          <p:cNvPr id="9" name="Action 3 number"/>
          <p:cNvSpPr txBox="1"/>
          <p:nvPr/>
        </p:nvSpPr>
        <p:spPr>
          <a:xfrm>
            <a:off x="731520" y="3648456"/>
            <a:ext cx="411480" cy="384048"/>
          </a:xfrm>
          <a:prstGeom prst="rect">
            <a:avLst/>
          </a:prstGeom>
          <a:noFill/>
        </p:spPr>
        <p:txBody>
          <a:bodyPr wrap="square" lIns="0" rIns="0" tIns="0" bIns="0" anchor="t">
            <a:spAutoFit/>
          </a:bodyPr>
          <a:lstStyle/>
          <a:p>
            <a:pPr algn="l">
              <a:lnSpc>
                <a:spcPct val="100000"/>
              </a:lnSpc>
              <a:spcBef>
                <a:spcPts val="0"/>
              </a:spcBef>
              <a:spcAft>
                <a:spcPts val="0"/>
              </a:spcAft>
            </a:pPr>
            <a:r>
              <a:rPr sz="2200" b="1">
                <a:solidFill>
                  <a:srgbClr val="8F9798"/>
                </a:solidFill>
                <a:latin typeface="Arial"/>
              </a:rPr>
              <a:t>3</a:t>
            </a:r>
          </a:p>
        </p:txBody>
      </p:sp>
      <p:sp>
        <p:nvSpPr>
          <p:cNvPr id="10" name="Action 3 heading"/>
          <p:cNvSpPr txBox="1"/>
          <p:nvPr/>
        </p:nvSpPr>
        <p:spPr>
          <a:xfrm>
            <a:off x="1325880" y="3648456"/>
            <a:ext cx="9052560" cy="365760"/>
          </a:xfrm>
          <a:prstGeom prst="rect">
            <a:avLst/>
          </a:prstGeom>
          <a:noFill/>
        </p:spPr>
        <p:txBody>
          <a:bodyPr wrap="square" lIns="0" rIns="0" tIns="0" bIns="0" anchor="t">
            <a:spAutoFit/>
          </a:bodyPr>
          <a:lstStyle/>
          <a:p>
            <a:pPr algn="l">
              <a:lnSpc>
                <a:spcPct val="100000"/>
              </a:lnSpc>
              <a:spcBef>
                <a:spcPts val="0"/>
              </a:spcBef>
              <a:spcAft>
                <a:spcPts val="0"/>
              </a:spcAft>
            </a:pPr>
            <a:r>
              <a:rPr sz="2300" b="1">
                <a:solidFill>
                  <a:srgbClr val="F4EFE4"/>
                </a:solidFill>
                <a:latin typeface="Arial"/>
              </a:rPr>
              <a:t>Keep the minutes check, then add role and fixtures.</a:t>
            </a:r>
          </a:p>
        </p:txBody>
      </p:sp>
      <p:sp>
        <p:nvSpPr>
          <p:cNvPr id="11" name="Action 3 body"/>
          <p:cNvSpPr txBox="1"/>
          <p:nvPr/>
        </p:nvSpPr>
        <p:spPr>
          <a:xfrm>
            <a:off x="1325880" y="4069080"/>
            <a:ext cx="9509760" cy="310896"/>
          </a:xfrm>
          <a:prstGeom prst="rect">
            <a:avLst/>
          </a:prstGeom>
          <a:noFill/>
        </p:spPr>
        <p:txBody>
          <a:bodyPr wrap="square" lIns="0" rIns="0" tIns="0" bIns="0" anchor="t">
            <a:spAutoFit/>
          </a:bodyPr>
          <a:lstStyle/>
          <a:p>
            <a:pPr algn="l">
              <a:lnSpc>
                <a:spcPct val="100000"/>
              </a:lnSpc>
              <a:spcBef>
                <a:spcPts val="0"/>
              </a:spcBef>
              <a:spcAft>
                <a:spcPts val="0"/>
              </a:spcAft>
            </a:pPr>
            <a:r>
              <a:rPr sz="1600" b="0">
                <a:solidFill>
                  <a:srgbClr val="8F9798"/>
                </a:solidFill>
                <a:latin typeface="Arial"/>
              </a:rPr>
              <a:t>Availability protects the shortlist, but it does not finish it.</a:t>
            </a:r>
          </a:p>
        </p:txBody>
      </p:sp>
      <p:sp>
        <p:nvSpPr>
          <p:cNvPr id="12" name="Action 4 number"/>
          <p:cNvSpPr txBox="1"/>
          <p:nvPr/>
        </p:nvSpPr>
        <p:spPr>
          <a:xfrm>
            <a:off x="731520" y="4764024"/>
            <a:ext cx="411480" cy="384048"/>
          </a:xfrm>
          <a:prstGeom prst="rect">
            <a:avLst/>
          </a:prstGeom>
          <a:noFill/>
        </p:spPr>
        <p:txBody>
          <a:bodyPr wrap="square" lIns="0" rIns="0" tIns="0" bIns="0" anchor="t">
            <a:spAutoFit/>
          </a:bodyPr>
          <a:lstStyle/>
          <a:p>
            <a:pPr algn="l">
              <a:lnSpc>
                <a:spcPct val="100000"/>
              </a:lnSpc>
              <a:spcBef>
                <a:spcPts val="0"/>
              </a:spcBef>
              <a:spcAft>
                <a:spcPts val="0"/>
              </a:spcAft>
            </a:pPr>
            <a:r>
              <a:rPr sz="2200" b="1">
                <a:solidFill>
                  <a:srgbClr val="8F9798"/>
                </a:solidFill>
                <a:latin typeface="Arial"/>
              </a:rPr>
              <a:t>4</a:t>
            </a:r>
          </a:p>
        </p:txBody>
      </p:sp>
      <p:sp>
        <p:nvSpPr>
          <p:cNvPr id="13" name="Action 4 heading"/>
          <p:cNvSpPr txBox="1"/>
          <p:nvPr/>
        </p:nvSpPr>
        <p:spPr>
          <a:xfrm>
            <a:off x="1325880" y="4764024"/>
            <a:ext cx="9052560" cy="365760"/>
          </a:xfrm>
          <a:prstGeom prst="rect">
            <a:avLst/>
          </a:prstGeom>
          <a:noFill/>
        </p:spPr>
        <p:txBody>
          <a:bodyPr wrap="square" lIns="0" rIns="0" tIns="0" bIns="0" anchor="t">
            <a:spAutoFit/>
          </a:bodyPr>
          <a:lstStyle/>
          <a:p>
            <a:pPr algn="l">
              <a:lnSpc>
                <a:spcPct val="100000"/>
              </a:lnSpc>
              <a:spcBef>
                <a:spcPts val="0"/>
              </a:spcBef>
              <a:spcAft>
                <a:spcPts val="0"/>
              </a:spcAft>
            </a:pPr>
            <a:r>
              <a:rPr sz="2300" b="1">
                <a:solidFill>
                  <a:srgbClr val="F4EFE4"/>
                </a:solidFill>
                <a:latin typeface="Arial"/>
              </a:rPr>
              <a:t>Let the rule narrow options.</a:t>
            </a:r>
          </a:p>
        </p:txBody>
      </p:sp>
      <p:sp>
        <p:nvSpPr>
          <p:cNvPr id="14" name="Action 4 body"/>
          <p:cNvSpPr txBox="1"/>
          <p:nvPr/>
        </p:nvSpPr>
        <p:spPr>
          <a:xfrm>
            <a:off x="1325880" y="5184648"/>
            <a:ext cx="9509760" cy="310896"/>
          </a:xfrm>
          <a:prstGeom prst="rect">
            <a:avLst/>
          </a:prstGeom>
          <a:noFill/>
        </p:spPr>
        <p:txBody>
          <a:bodyPr wrap="square" lIns="0" rIns="0" tIns="0" bIns="0" anchor="t">
            <a:spAutoFit/>
          </a:bodyPr>
          <a:lstStyle/>
          <a:p>
            <a:pPr algn="l">
              <a:lnSpc>
                <a:spcPct val="100000"/>
              </a:lnSpc>
              <a:spcBef>
                <a:spcPts val="0"/>
              </a:spcBef>
              <a:spcAft>
                <a:spcPts val="0"/>
              </a:spcAft>
            </a:pPr>
            <a:r>
              <a:rPr sz="1600" b="0">
                <a:solidFill>
                  <a:srgbClr val="8F9798"/>
                </a:solidFill>
                <a:latin typeface="Arial"/>
              </a:rPr>
              <a:t>Make the final call with the whole squad and transfer package in view.</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D10"/>
        </a:solidFill>
        <a:effectLst/>
      </p:bgPr>
    </p:bg>
    <p:spTree>
      <p:nvGrpSpPr>
        <p:cNvPr id="1" name=""/>
        <p:cNvGrpSpPr/>
        <p:nvPr/>
      </p:nvGrpSpPr>
      <p:grpSpPr/>
      <p:sp>
        <p:nvSpPr>
          <p:cNvPr id="2" name="Title"/>
          <p:cNvSpPr txBox="1"/>
          <p:nvPr/>
        </p:nvSpPr>
        <p:spPr>
          <a:xfrm>
            <a:off x="685800" y="530352"/>
            <a:ext cx="10820095" cy="548640"/>
          </a:xfrm>
          <a:prstGeom prst="rect">
            <a:avLst/>
          </a:prstGeom>
          <a:noFill/>
        </p:spPr>
        <p:txBody>
          <a:bodyPr wrap="square" lIns="0" rIns="0" tIns="0" bIns="0" anchor="t">
            <a:spAutoFit/>
          </a:bodyPr>
          <a:lstStyle/>
          <a:p>
            <a:pPr algn="l">
              <a:lnSpc>
                <a:spcPct val="100000"/>
              </a:lnSpc>
              <a:spcBef>
                <a:spcPts val="0"/>
              </a:spcBef>
              <a:spcAft>
                <a:spcPts val="0"/>
              </a:spcAft>
            </a:pPr>
            <a:r>
              <a:rPr sz="4000" b="1">
                <a:solidFill>
                  <a:srgbClr val="00D785"/>
                </a:solidFill>
                <a:latin typeface="Arial"/>
              </a:rPr>
              <a:t>Keep judgment, upgrade the signal.</a:t>
            </a:r>
          </a:p>
        </p:txBody>
      </p:sp>
      <p:sp>
        <p:nvSpPr>
          <p:cNvPr id="3" name="Caveat header"/>
          <p:cNvSpPr txBox="1"/>
          <p:nvPr/>
        </p:nvSpPr>
        <p:spPr>
          <a:xfrm>
            <a:off x="731520" y="1371600"/>
            <a:ext cx="10698480" cy="274320"/>
          </a:xfrm>
          <a:prstGeom prst="rect">
            <a:avLst/>
          </a:prstGeom>
          <a:noFill/>
        </p:spPr>
        <p:txBody>
          <a:bodyPr wrap="square" lIns="0" rIns="0" tIns="0" bIns="0" anchor="t">
            <a:spAutoFit/>
          </a:bodyPr>
          <a:lstStyle/>
          <a:p>
            <a:pPr algn="l">
              <a:lnSpc>
                <a:spcPct val="100000"/>
              </a:lnSpc>
              <a:spcBef>
                <a:spcPts val="0"/>
              </a:spcBef>
              <a:spcAft>
                <a:spcPts val="0"/>
              </a:spcAft>
            </a:pPr>
            <a:r>
              <a:rPr sz="1400" b="1">
                <a:solidFill>
                  <a:srgbClr val="8F9798"/>
                </a:solidFill>
                <a:latin typeface="Arial"/>
              </a:rPr>
              <a:t>READ THE RESULT WITH THESE LIMITS</a:t>
            </a:r>
          </a:p>
        </p:txBody>
      </p:sp>
      <p:sp>
        <p:nvSpPr>
          <p:cNvPr id="4" name="Caveat 1 bullet"/>
          <p:cNvSpPr txBox="1"/>
          <p:nvPr/>
        </p:nvSpPr>
        <p:spPr>
          <a:xfrm>
            <a:off x="749808" y="1874519"/>
            <a:ext cx="274320" cy="310896"/>
          </a:xfrm>
          <a:prstGeom prst="rect">
            <a:avLst/>
          </a:prstGeom>
          <a:noFill/>
        </p:spPr>
        <p:txBody>
          <a:bodyPr wrap="square" lIns="0" rIns="0" tIns="0" bIns="0" anchor="t">
            <a:spAutoFit/>
          </a:bodyPr>
          <a:lstStyle/>
          <a:p>
            <a:pPr algn="l">
              <a:lnSpc>
                <a:spcPct val="100000"/>
              </a:lnSpc>
              <a:spcBef>
                <a:spcPts val="0"/>
              </a:spcBef>
              <a:spcAft>
                <a:spcPts val="0"/>
              </a:spcAft>
            </a:pPr>
            <a:r>
              <a:rPr sz="1700" b="0">
                <a:solidFill>
                  <a:srgbClr val="8F9798"/>
                </a:solidFill>
                <a:latin typeface="Arial"/>
              </a:rPr>
              <a:t>•</a:t>
            </a:r>
          </a:p>
        </p:txBody>
      </p:sp>
      <p:sp>
        <p:nvSpPr>
          <p:cNvPr id="5" name="Caveat 1 text"/>
          <p:cNvSpPr txBox="1"/>
          <p:nvPr/>
        </p:nvSpPr>
        <p:spPr>
          <a:xfrm>
            <a:off x="1115568" y="1874519"/>
            <a:ext cx="10058400" cy="658368"/>
          </a:xfrm>
          <a:prstGeom prst="rect">
            <a:avLst/>
          </a:prstGeom>
          <a:noFill/>
        </p:spPr>
        <p:txBody>
          <a:bodyPr wrap="square" lIns="0" rIns="0" tIns="0" bIns="0" anchor="t">
            <a:spAutoFit/>
          </a:bodyPr>
          <a:lstStyle/>
          <a:p>
            <a:pPr algn="l">
              <a:lnSpc>
                <a:spcPct val="100000"/>
              </a:lnSpc>
              <a:spcBef>
                <a:spcPts val="0"/>
              </a:spcBef>
              <a:spcAft>
                <a:spcPts val="0"/>
              </a:spcAft>
            </a:pPr>
            <a:r>
              <a:rPr sz="1600" b="0">
                <a:solidFill>
                  <a:srgbClr val="F4EFE4"/>
                </a:solidFill>
                <a:latin typeface="Arial"/>
              </a:rPr>
              <a:t>One manager and one season. This is descriptive, not causal.</a:t>
            </a:r>
          </a:p>
        </p:txBody>
      </p:sp>
      <p:sp>
        <p:nvSpPr>
          <p:cNvPr id="6" name="Caveat 2 bullet"/>
          <p:cNvSpPr txBox="1"/>
          <p:nvPr/>
        </p:nvSpPr>
        <p:spPr>
          <a:xfrm>
            <a:off x="749808" y="2679191"/>
            <a:ext cx="274320" cy="310896"/>
          </a:xfrm>
          <a:prstGeom prst="rect">
            <a:avLst/>
          </a:prstGeom>
          <a:noFill/>
        </p:spPr>
        <p:txBody>
          <a:bodyPr wrap="square" lIns="0" rIns="0" tIns="0" bIns="0" anchor="t">
            <a:spAutoFit/>
          </a:bodyPr>
          <a:lstStyle/>
          <a:p>
            <a:pPr algn="l">
              <a:lnSpc>
                <a:spcPct val="100000"/>
              </a:lnSpc>
              <a:spcBef>
                <a:spcPts val="0"/>
              </a:spcBef>
              <a:spcAft>
                <a:spcPts val="0"/>
              </a:spcAft>
            </a:pPr>
            <a:r>
              <a:rPr sz="1700" b="0">
                <a:solidFill>
                  <a:srgbClr val="8F9798"/>
                </a:solidFill>
                <a:latin typeface="Arial"/>
              </a:rPr>
              <a:t>•</a:t>
            </a:r>
          </a:p>
        </p:txBody>
      </p:sp>
      <p:sp>
        <p:nvSpPr>
          <p:cNvPr id="7" name="Caveat 2 text"/>
          <p:cNvSpPr txBox="1"/>
          <p:nvPr/>
        </p:nvSpPr>
        <p:spPr>
          <a:xfrm>
            <a:off x="1115568" y="2679191"/>
            <a:ext cx="10058400" cy="658368"/>
          </a:xfrm>
          <a:prstGeom prst="rect">
            <a:avLst/>
          </a:prstGeom>
          <a:noFill/>
        </p:spPr>
        <p:txBody>
          <a:bodyPr wrap="square" lIns="0" rIns="0" tIns="0" bIns="0" anchor="t">
            <a:spAutoFit/>
          </a:bodyPr>
          <a:lstStyle/>
          <a:p>
            <a:pPr algn="l">
              <a:lnSpc>
                <a:spcPct val="100000"/>
              </a:lnSpc>
              <a:spcBef>
                <a:spcPts val="0"/>
              </a:spcBef>
              <a:spcAft>
                <a:spcPts val="0"/>
              </a:spcAft>
            </a:pPr>
            <a:r>
              <a:rPr sz="1600" b="0">
                <a:solidFill>
                  <a:srgbClr val="F4EFE4"/>
                </a:solidFill>
                <a:latin typeface="Arial"/>
              </a:rPr>
              <a:t>37 of 46 moves were in multi-transfer GWs. Full-bank primary: -197. First-leg-only sensitivity: -170 across a smaller scored set.</a:t>
            </a:r>
          </a:p>
        </p:txBody>
      </p:sp>
      <p:sp>
        <p:nvSpPr>
          <p:cNvPr id="8" name="Caveat 3 bullet"/>
          <p:cNvSpPr txBox="1"/>
          <p:nvPr/>
        </p:nvSpPr>
        <p:spPr>
          <a:xfrm>
            <a:off x="749808" y="3483863"/>
            <a:ext cx="274320" cy="310896"/>
          </a:xfrm>
          <a:prstGeom prst="rect">
            <a:avLst/>
          </a:prstGeom>
          <a:noFill/>
        </p:spPr>
        <p:txBody>
          <a:bodyPr wrap="square" lIns="0" rIns="0" tIns="0" bIns="0" anchor="t">
            <a:spAutoFit/>
          </a:bodyPr>
          <a:lstStyle/>
          <a:p>
            <a:pPr algn="l">
              <a:lnSpc>
                <a:spcPct val="100000"/>
              </a:lnSpc>
              <a:spcBef>
                <a:spcPts val="0"/>
              </a:spcBef>
              <a:spcAft>
                <a:spcPts val="0"/>
              </a:spcAft>
            </a:pPr>
            <a:r>
              <a:rPr sz="1700" b="0">
                <a:solidFill>
                  <a:srgbClr val="8F9798"/>
                </a:solidFill>
                <a:latin typeface="Arial"/>
              </a:rPr>
              <a:t>•</a:t>
            </a:r>
          </a:p>
        </p:txBody>
      </p:sp>
      <p:sp>
        <p:nvSpPr>
          <p:cNvPr id="9" name="Caveat 3 text"/>
          <p:cNvSpPr txBox="1"/>
          <p:nvPr/>
        </p:nvSpPr>
        <p:spPr>
          <a:xfrm>
            <a:off x="1115568" y="3483863"/>
            <a:ext cx="10058400" cy="658368"/>
          </a:xfrm>
          <a:prstGeom prst="rect">
            <a:avLst/>
          </a:prstGeom>
          <a:noFill/>
        </p:spPr>
        <p:txBody>
          <a:bodyPr wrap="square" lIns="0" rIns="0" tIns="0" bIns="0" anchor="t">
            <a:spAutoFit/>
          </a:bodyPr>
          <a:lstStyle/>
          <a:p>
            <a:pPr algn="l">
              <a:lnSpc>
                <a:spcPct val="100000"/>
              </a:lnSpc>
              <a:spcBef>
                <a:spcPts val="0"/>
              </a:spcBef>
              <a:spcAft>
                <a:spcPts val="0"/>
              </a:spcAft>
            </a:pPr>
            <a:r>
              <a:rPr sz="1600" b="0">
                <a:solidFill>
                  <a:srgbClr val="F4EFE4"/>
                </a:solidFill>
                <a:latin typeface="Arial"/>
              </a:rPr>
              <a:t>Four actual buys also used cash released by another same-GW leg, so sale plus prior bank was not always the full package budget.</a:t>
            </a:r>
          </a:p>
        </p:txBody>
      </p:sp>
      <p:sp>
        <p:nvSpPr>
          <p:cNvPr id="10" name="Caveat 4 bullet"/>
          <p:cNvSpPr txBox="1"/>
          <p:nvPr/>
        </p:nvSpPr>
        <p:spPr>
          <a:xfrm>
            <a:off x="749808" y="4288536"/>
            <a:ext cx="274320" cy="310896"/>
          </a:xfrm>
          <a:prstGeom prst="rect">
            <a:avLst/>
          </a:prstGeom>
          <a:noFill/>
        </p:spPr>
        <p:txBody>
          <a:bodyPr wrap="square" lIns="0" rIns="0" tIns="0" bIns="0" anchor="t">
            <a:spAutoFit/>
          </a:bodyPr>
          <a:lstStyle/>
          <a:p>
            <a:pPr algn="l">
              <a:lnSpc>
                <a:spcPct val="100000"/>
              </a:lnSpc>
              <a:spcBef>
                <a:spcPts val="0"/>
              </a:spcBef>
              <a:spcAft>
                <a:spcPts val="0"/>
              </a:spcAft>
            </a:pPr>
            <a:r>
              <a:rPr sz="1700" b="0">
                <a:solidFill>
                  <a:srgbClr val="8F9798"/>
                </a:solidFill>
                <a:latin typeface="Arial"/>
              </a:rPr>
              <a:t>•</a:t>
            </a:r>
          </a:p>
        </p:txBody>
      </p:sp>
      <p:sp>
        <p:nvSpPr>
          <p:cNvPr id="11" name="Caveat 4 text"/>
          <p:cNvSpPr txBox="1"/>
          <p:nvPr/>
        </p:nvSpPr>
        <p:spPr>
          <a:xfrm>
            <a:off x="1115568" y="4288536"/>
            <a:ext cx="10058400" cy="658368"/>
          </a:xfrm>
          <a:prstGeom prst="rect">
            <a:avLst/>
          </a:prstGeom>
          <a:noFill/>
        </p:spPr>
        <p:txBody>
          <a:bodyPr wrap="square" lIns="0" rIns="0" tIns="0" bIns="0" anchor="t">
            <a:spAutoFit/>
          </a:bodyPr>
          <a:lstStyle/>
          <a:p>
            <a:pPr algn="l">
              <a:lnSpc>
                <a:spcPct val="100000"/>
              </a:lnSpc>
              <a:spcBef>
                <a:spcPts val="0"/>
              </a:spcBef>
              <a:spcAft>
                <a:spcPts val="0"/>
              </a:spcAft>
            </a:pPr>
            <a:r>
              <a:rPr sz="1600" b="0">
                <a:solidFill>
                  <a:srgbClr val="F4EFE4"/>
                </a:solidFill>
                <a:latin typeface="Arial"/>
              </a:rPr>
              <a:t>Only 35 actual incoming players passed every locked filter. Minutes and feature-price quirks still excluded real buys.</a:t>
            </a:r>
          </a:p>
        </p:txBody>
      </p:sp>
      <p:sp>
        <p:nvSpPr>
          <p:cNvPr id="12" name="Caveat 5 bullet"/>
          <p:cNvSpPr txBox="1"/>
          <p:nvPr/>
        </p:nvSpPr>
        <p:spPr>
          <a:xfrm>
            <a:off x="749808" y="5093207"/>
            <a:ext cx="274320" cy="310896"/>
          </a:xfrm>
          <a:prstGeom prst="rect">
            <a:avLst/>
          </a:prstGeom>
          <a:noFill/>
        </p:spPr>
        <p:txBody>
          <a:bodyPr wrap="square" lIns="0" rIns="0" tIns="0" bIns="0" anchor="t">
            <a:spAutoFit/>
          </a:bodyPr>
          <a:lstStyle/>
          <a:p>
            <a:pPr algn="l">
              <a:lnSpc>
                <a:spcPct val="100000"/>
              </a:lnSpc>
              <a:spcBef>
                <a:spcPts val="0"/>
              </a:spcBef>
              <a:spcAft>
                <a:spcPts val="0"/>
              </a:spcAft>
            </a:pPr>
            <a:r>
              <a:rPr sz="1700" b="0">
                <a:solidFill>
                  <a:srgbClr val="8F9798"/>
                </a:solidFill>
                <a:latin typeface="Arial"/>
              </a:rPr>
              <a:t>•</a:t>
            </a:r>
          </a:p>
        </p:txBody>
      </p:sp>
      <p:sp>
        <p:nvSpPr>
          <p:cNvPr id="13" name="Caveat 5 text"/>
          <p:cNvSpPr txBox="1"/>
          <p:nvPr/>
        </p:nvSpPr>
        <p:spPr>
          <a:xfrm>
            <a:off x="1115568" y="5093207"/>
            <a:ext cx="10058400" cy="658368"/>
          </a:xfrm>
          <a:prstGeom prst="rect">
            <a:avLst/>
          </a:prstGeom>
          <a:noFill/>
        </p:spPr>
        <p:txBody>
          <a:bodyPr wrap="square" lIns="0" rIns="0" tIns="0" bIns="0" anchor="t">
            <a:spAutoFit/>
          </a:bodyPr>
          <a:lstStyle/>
          <a:p>
            <a:pPr algn="l">
              <a:lnSpc>
                <a:spcPct val="100000"/>
              </a:lnSpc>
              <a:spcBef>
                <a:spcPts val="0"/>
              </a:spcBef>
              <a:spcAft>
                <a:spcPts val="0"/>
              </a:spcAft>
            </a:pPr>
            <a:r>
              <a:rPr sz="1600" b="0">
                <a:solidFill>
                  <a:srgbClr val="F4EFE4"/>
                </a:solidFill>
                <a:latin typeface="Arial"/>
              </a:rPr>
              <a:t>Holding windows ignore captaincy, benching, hits, and whether the rule pick would start.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