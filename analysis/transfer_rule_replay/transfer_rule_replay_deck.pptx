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We asked a narrow question: would one simple transfer rule have beaten the manager's real choices? The replay covers entry 816200 in the 2025/26 season. Treat the answer as descriptive, not causal.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rule uses only the four gameweeks before each move, so the ranking does not see the outcome. It matches position, applies the minutes and sale-price screens, then ranks by four-gameweek form. We compare both players over the actual holding window and exclude chip gameweeks.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answer is no: the rule finished 191 points behind the actual picks across 43 scored transfers. Three no-candidate rows were pushes and do not enter these totals. The score is a holding-window comparison and does not include captaincy, benching, or package effects.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Read the dumbbell from left to right: 567 points for the rule and 758 for the actual picks. The 191-point gap uses the same 43 holding windows on both sides. This is the replay outcome under fixed scoring choices, not a causal estimate.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This is the twist: 148 of the 191 lost points sit in the 20 transfers where the manager spent above the sale-price cap. That is 77 percent of the full deficit. The rule's own budget constraint drives this arithmetic split.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When both sides fit the sale-price cap, the rule lost 1.87 points per transfer instead of 7.40. The fair subset finished 9 wins, 11 losses, and 3 ties. With only 23 fair fights, near parity is indicative rather than precise.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rule produced real wins, led by Semenyo at plus 31, but its largest misses were bigger. Gabriel, Wilson, and Bruno G. were all premium buys that the sale-price cap excluded. These individual holding-window outcomes can still contain a lot of luck.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replay rule chose a different player on 43 of 46 transfers, but difference alone is not quality. Prior work in this repo found trailing xGI more closely linked with next-four-gameweek goals for attackers than trailing form, at +0.35 versus +0.19. These are associations, not causal effects or guarantees.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The operating choice is to keep human judgment and improve the first screen. Banked cash must stay available, and attacker shortlists should lean on trailing xGI rather than raw form alone. The minutes filter remains useful, but the rule should narrow options rather than make the final transfer.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Bef>
                <a:spcPts val="0"/>
              </a:spcBef>
              <a:spcAft>
                <a:spcPts val="0"/>
              </a:spcAft>
            </a:pPr>
            <a:r>
              <a:rPr sz="1100">
                <a:solidFill>
                  <a:srgbClr val="000000"/>
                </a:solidFill>
                <a:latin typeface="Arial"/>
              </a:rPr>
              <a:t>This is a descriptive replay for one manager and one season, with season-static candidate prices and a small fair-fight subset. The scoring also leaves out captaincy, benching, and multi-transfer package effects, while the price sensitivity still remained negative. The decision is to keep judgment, preserve banked-fund flexibility, and upgrade the attacker signal.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Kicker"/>
          <p:cNvSpPr txBox="1"/>
          <p:nvPr/>
        </p:nvSpPr>
        <p:spPr>
          <a:xfrm>
            <a:off x="685800" y="685800"/>
            <a:ext cx="10820095"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a:solidFill>
                  <a:srgbClr val="00D785"/>
                </a:solidFill>
                <a:latin typeface="Arial"/>
              </a:rPr>
              <a:t>TRANSFER RULE REPLAY</a:t>
            </a:r>
          </a:p>
        </p:txBody>
      </p:sp>
      <p:sp>
        <p:nvSpPr>
          <p:cNvPr id="3" name="Title"/>
          <p:cNvSpPr txBox="1"/>
          <p:nvPr/>
        </p:nvSpPr>
        <p:spPr>
          <a:xfrm>
            <a:off x="685800" y="1828800"/>
            <a:ext cx="10820095" cy="1371600"/>
          </a:xfrm>
          <a:prstGeom prst="rect">
            <a:avLst/>
          </a:prstGeom>
          <a:noFill/>
        </p:spPr>
        <p:txBody>
          <a:bodyPr wrap="square" lIns="0" rIns="0" tIns="0" bIns="0" anchor="ctr">
            <a:spAutoFit/>
          </a:bodyPr>
          <a:lstStyle/>
          <a:p>
            <a:pPr algn="ctr">
              <a:lnSpc>
                <a:spcPct val="92000"/>
              </a:lnSpc>
              <a:spcBef>
                <a:spcPts val="0"/>
              </a:spcBef>
              <a:spcAft>
                <a:spcPts val="0"/>
              </a:spcAft>
            </a:pPr>
            <a:r>
              <a:rPr sz="4400" b="1">
                <a:solidFill>
                  <a:srgbClr val="F4EFE4"/>
                </a:solidFill>
                <a:latin typeface="Arial"/>
              </a:rPr>
              <a:t>Would a simple transfer rule
have beaten your judgment?</a:t>
            </a:r>
          </a:p>
        </p:txBody>
      </p:sp>
      <p:sp>
        <p:nvSpPr>
          <p:cNvPr id="4" name="Subtitle"/>
          <p:cNvSpPr txBox="1"/>
          <p:nvPr/>
        </p:nvSpPr>
        <p:spPr>
          <a:xfrm>
            <a:off x="685800" y="3429000"/>
            <a:ext cx="10820095" cy="365760"/>
          </a:xfrm>
          <a:prstGeom prst="rect">
            <a:avLst/>
          </a:prstGeom>
          <a:noFill/>
        </p:spPr>
        <p:txBody>
          <a:bodyPr wrap="square" lIns="0" rIns="0" tIns="0" bIns="0" anchor="t">
            <a:spAutoFit/>
          </a:bodyPr>
          <a:lstStyle/>
          <a:p>
            <a:pPr algn="ctr">
              <a:lnSpc>
                <a:spcPct val="100000"/>
              </a:lnSpc>
              <a:spcBef>
                <a:spcPts val="0"/>
              </a:spcBef>
              <a:spcAft>
                <a:spcPts val="0"/>
              </a:spcAft>
            </a:pPr>
            <a:r>
              <a:rPr sz="1800" b="0">
                <a:solidFill>
                  <a:srgbClr val="8F9798"/>
                </a:solidFill>
                <a:latin typeface="Arial"/>
              </a:rPr>
              <a:t>Entry 816200  |  FPL 2025/26</a:t>
            </a:r>
          </a:p>
        </p:txBody>
      </p:sp>
      <p:sp>
        <p:nvSpPr>
          <p:cNvPr id="5" name="Method line"/>
          <p:cNvSpPr txBox="1"/>
          <p:nvPr/>
        </p:nvSpPr>
        <p:spPr>
          <a:xfrm>
            <a:off x="685800" y="5394960"/>
            <a:ext cx="10820095" cy="274320"/>
          </a:xfrm>
          <a:prstGeom prst="rect">
            <a:avLst/>
          </a:prstGeom>
          <a:noFill/>
        </p:spPr>
        <p:txBody>
          <a:bodyPr wrap="square" lIns="0" rIns="0" tIns="0" bIns="0" anchor="t">
            <a:spAutoFit/>
          </a:bodyPr>
          <a:lstStyle/>
          <a:p>
            <a:pPr algn="ctr">
              <a:lnSpc>
                <a:spcPct val="100000"/>
              </a:lnSpc>
              <a:spcBef>
                <a:spcPts val="0"/>
              </a:spcBef>
              <a:spcAft>
                <a:spcPts val="0"/>
              </a:spcAft>
            </a:pPr>
            <a:r>
              <a:rPr sz="1400" b="0">
                <a:solidFill>
                  <a:srgbClr val="8F9798"/>
                </a:solidFill>
                <a:latin typeface="Arial"/>
              </a:rPr>
              <a:t>A prior-only replay of 46 real transfers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48640"/>
            <a:ext cx="10820095" cy="50292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We tested one rule on 46 real transfers.</a:t>
            </a:r>
          </a:p>
        </p:txBody>
      </p:sp>
      <p:sp>
        <p:nvSpPr>
          <p:cNvPr id="3" name="Step 1 number"/>
          <p:cNvSpPr txBox="1"/>
          <p:nvPr/>
        </p:nvSpPr>
        <p:spPr>
          <a:xfrm>
            <a:off x="731520" y="1600200"/>
            <a:ext cx="457200" cy="594360"/>
          </a:xfrm>
          <a:prstGeom prst="rect">
            <a:avLst/>
          </a:prstGeom>
          <a:noFill/>
        </p:spPr>
        <p:txBody>
          <a:bodyPr wrap="square" lIns="0" rIns="0" tIns="0" bIns="0" anchor="t">
            <a:spAutoFit/>
          </a:bodyPr>
          <a:lstStyle/>
          <a:p>
            <a:pPr algn="l">
              <a:lnSpc>
                <a:spcPct val="100000"/>
              </a:lnSpc>
              <a:spcBef>
                <a:spcPts val="0"/>
              </a:spcBef>
              <a:spcAft>
                <a:spcPts val="0"/>
              </a:spcAft>
            </a:pPr>
            <a:r>
              <a:rPr sz="4200" b="1">
                <a:solidFill>
                  <a:srgbClr val="00D785"/>
                </a:solidFill>
                <a:latin typeface="Arial"/>
              </a:rPr>
              <a:t>1</a:t>
            </a:r>
          </a:p>
        </p:txBody>
      </p:sp>
      <p:sp>
        <p:nvSpPr>
          <p:cNvPr id="4" name="Step 1 heading"/>
          <p:cNvSpPr txBox="1"/>
          <p:nvPr/>
        </p:nvSpPr>
        <p:spPr>
          <a:xfrm>
            <a:off x="731520" y="2331720"/>
            <a:ext cx="288036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Match the position</a:t>
            </a:r>
          </a:p>
        </p:txBody>
      </p:sp>
      <p:sp>
        <p:nvSpPr>
          <p:cNvPr id="5" name="Step 1 body"/>
          <p:cNvSpPr txBox="1"/>
          <p:nvPr/>
        </p:nvSpPr>
        <p:spPr>
          <a:xfrm>
            <a:off x="731520" y="2852928"/>
            <a:ext cx="2880360" cy="11430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8F9798"/>
                </a:solidFill>
                <a:latin typeface="Arial"/>
              </a:rPr>
              <a:t>Exclude the prior squad and the other same-week incoming players.</a:t>
            </a:r>
          </a:p>
        </p:txBody>
      </p:sp>
      <p:sp>
        <p:nvSpPr>
          <p:cNvPr id="6" name="Step 2 number"/>
          <p:cNvSpPr txBox="1"/>
          <p:nvPr/>
        </p:nvSpPr>
        <p:spPr>
          <a:xfrm>
            <a:off x="4160520" y="1600200"/>
            <a:ext cx="457200" cy="594360"/>
          </a:xfrm>
          <a:prstGeom prst="rect">
            <a:avLst/>
          </a:prstGeom>
          <a:noFill/>
        </p:spPr>
        <p:txBody>
          <a:bodyPr wrap="square" lIns="0" rIns="0" tIns="0" bIns="0" anchor="t">
            <a:spAutoFit/>
          </a:bodyPr>
          <a:lstStyle/>
          <a:p>
            <a:pPr algn="l">
              <a:lnSpc>
                <a:spcPct val="100000"/>
              </a:lnSpc>
              <a:spcBef>
                <a:spcPts val="0"/>
              </a:spcBef>
              <a:spcAft>
                <a:spcPts val="0"/>
              </a:spcAft>
            </a:pPr>
            <a:r>
              <a:rPr sz="4200" b="1">
                <a:solidFill>
                  <a:srgbClr val="00D785"/>
                </a:solidFill>
                <a:latin typeface="Arial"/>
              </a:rPr>
              <a:t>2</a:t>
            </a:r>
          </a:p>
        </p:txBody>
      </p:sp>
      <p:sp>
        <p:nvSpPr>
          <p:cNvPr id="7" name="Step 2 heading"/>
          <p:cNvSpPr txBox="1"/>
          <p:nvPr/>
        </p:nvSpPr>
        <p:spPr>
          <a:xfrm>
            <a:off x="4160520" y="2331720"/>
            <a:ext cx="288036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Set the screen</a:t>
            </a:r>
          </a:p>
        </p:txBody>
      </p:sp>
      <p:sp>
        <p:nvSpPr>
          <p:cNvPr id="8" name="Step 2 body"/>
          <p:cNvSpPr txBox="1"/>
          <p:nvPr/>
        </p:nvSpPr>
        <p:spPr>
          <a:xfrm>
            <a:off x="4160520" y="2852928"/>
            <a:ext cx="2880360" cy="11430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8F9798"/>
                </a:solidFill>
                <a:latin typeface="Arial"/>
              </a:rPr>
              <a:t>Keep players at or below the sale price who averaged 45+ minutes over the prior 4 GWs.</a:t>
            </a:r>
          </a:p>
        </p:txBody>
      </p:sp>
      <p:sp>
        <p:nvSpPr>
          <p:cNvPr id="9" name="Step 3 number"/>
          <p:cNvSpPr txBox="1"/>
          <p:nvPr/>
        </p:nvSpPr>
        <p:spPr>
          <a:xfrm>
            <a:off x="7589520" y="1600200"/>
            <a:ext cx="457200" cy="594360"/>
          </a:xfrm>
          <a:prstGeom prst="rect">
            <a:avLst/>
          </a:prstGeom>
          <a:noFill/>
        </p:spPr>
        <p:txBody>
          <a:bodyPr wrap="square" lIns="0" rIns="0" tIns="0" bIns="0" anchor="t">
            <a:spAutoFit/>
          </a:bodyPr>
          <a:lstStyle/>
          <a:p>
            <a:pPr algn="l">
              <a:lnSpc>
                <a:spcPct val="100000"/>
              </a:lnSpc>
              <a:spcBef>
                <a:spcPts val="0"/>
              </a:spcBef>
              <a:spcAft>
                <a:spcPts val="0"/>
              </a:spcAft>
            </a:pPr>
            <a:r>
              <a:rPr sz="4200" b="1">
                <a:solidFill>
                  <a:srgbClr val="00D785"/>
                </a:solidFill>
                <a:latin typeface="Arial"/>
              </a:rPr>
              <a:t>3</a:t>
            </a:r>
          </a:p>
        </p:txBody>
      </p:sp>
      <p:sp>
        <p:nvSpPr>
          <p:cNvPr id="10" name="Step 3 heading"/>
          <p:cNvSpPr txBox="1"/>
          <p:nvPr/>
        </p:nvSpPr>
        <p:spPr>
          <a:xfrm>
            <a:off x="7589520" y="2331720"/>
            <a:ext cx="2880360" cy="384048"/>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Choose on form</a:t>
            </a:r>
          </a:p>
        </p:txBody>
      </p:sp>
      <p:sp>
        <p:nvSpPr>
          <p:cNvPr id="11" name="Step 3 body"/>
          <p:cNvSpPr txBox="1"/>
          <p:nvPr/>
        </p:nvSpPr>
        <p:spPr>
          <a:xfrm>
            <a:off x="7589520" y="2852928"/>
            <a:ext cx="2880360" cy="1143000"/>
          </a:xfrm>
          <a:prstGeom prst="rect">
            <a:avLst/>
          </a:prstGeom>
          <a:noFill/>
        </p:spPr>
        <p:txBody>
          <a:bodyPr wrap="square" lIns="0" rIns="0" tIns="0" bIns="0" anchor="t">
            <a:spAutoFit/>
          </a:bodyPr>
          <a:lstStyle/>
          <a:p>
            <a:pPr algn="l">
              <a:lnSpc>
                <a:spcPct val="110000"/>
              </a:lnSpc>
              <a:spcBef>
                <a:spcPts val="0"/>
              </a:spcBef>
              <a:spcAft>
                <a:spcPts val="0"/>
              </a:spcAft>
            </a:pPr>
            <a:r>
              <a:rPr sz="1500" b="0">
                <a:solidFill>
                  <a:srgbClr val="8F9798"/>
                </a:solidFill>
                <a:latin typeface="Arial"/>
              </a:rPr>
              <a:t>Take the highest prior 4-GW points form.</a:t>
            </a:r>
          </a:p>
        </p:txBody>
      </p:sp>
      <p:sp>
        <p:nvSpPr>
          <p:cNvPr id="12" name="Test label"/>
          <p:cNvSpPr txBox="1"/>
          <p:nvPr/>
        </p:nvSpPr>
        <p:spPr>
          <a:xfrm>
            <a:off x="731520" y="4892040"/>
            <a:ext cx="640080" cy="228600"/>
          </a:xfrm>
          <a:prstGeom prst="rect">
            <a:avLst/>
          </a:prstGeom>
          <a:noFill/>
        </p:spPr>
        <p:txBody>
          <a:bodyPr wrap="square" lIns="0" rIns="0" tIns="0" bIns="0" anchor="t">
            <a:spAutoFit/>
          </a:bodyPr>
          <a:lstStyle/>
          <a:p>
            <a:pPr algn="l">
              <a:lnSpc>
                <a:spcPct val="100000"/>
              </a:lnSpc>
              <a:spcBef>
                <a:spcPts val="0"/>
              </a:spcBef>
              <a:spcAft>
                <a:spcPts val="0"/>
              </a:spcAft>
            </a:pPr>
            <a:r>
              <a:rPr sz="1200" b="1">
                <a:solidFill>
                  <a:srgbClr val="8F9798"/>
                </a:solidFill>
                <a:latin typeface="Arial"/>
              </a:rPr>
              <a:t>TEST</a:t>
            </a:r>
          </a:p>
        </p:txBody>
      </p:sp>
      <p:sp>
        <p:nvSpPr>
          <p:cNvPr id="13" name="Test statement"/>
          <p:cNvSpPr txBox="1"/>
          <p:nvPr/>
        </p:nvSpPr>
        <p:spPr>
          <a:xfrm>
            <a:off x="1417320" y="4855464"/>
            <a:ext cx="9509760"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Score the rule pick and actual pick over the same real holding window.</a:t>
            </a:r>
          </a:p>
        </p:txBody>
      </p:sp>
      <p:sp>
        <p:nvSpPr>
          <p:cNvPr id="14" name="Method footer"/>
          <p:cNvSpPr txBox="1"/>
          <p:nvPr/>
        </p:nvSpPr>
        <p:spPr>
          <a:xfrm>
            <a:off x="731520" y="5870448"/>
            <a:ext cx="1069848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0">
                <a:solidFill>
                  <a:srgbClr val="8F9798"/>
                </a:solidFill>
                <a:latin typeface="Arial"/>
              </a:rPr>
              <a:t>Leak-free replay: 46 non-chip transfers  |  43 candidates  |  3 no-candidate pushes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48640"/>
            <a:ext cx="10820095" cy="50292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The rule would have cost 191 points.</a:t>
            </a:r>
          </a:p>
        </p:txBody>
      </p:sp>
      <p:sp>
        <p:nvSpPr>
          <p:cNvPr id="3" name="Stat label"/>
          <p:cNvSpPr txBox="1"/>
          <p:nvPr/>
        </p:nvSpPr>
        <p:spPr>
          <a:xfrm>
            <a:off x="731520" y="1828800"/>
            <a:ext cx="4480560" cy="256032"/>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RULE MINUS ACTUAL</a:t>
            </a:r>
          </a:p>
        </p:txBody>
      </p:sp>
      <p:sp>
        <p:nvSpPr>
          <p:cNvPr id="4" name="Big stat"/>
          <p:cNvSpPr txBox="1"/>
          <p:nvPr/>
        </p:nvSpPr>
        <p:spPr>
          <a:xfrm>
            <a:off x="685800" y="2148840"/>
            <a:ext cx="5120640" cy="1005840"/>
          </a:xfrm>
          <a:prstGeom prst="rect">
            <a:avLst/>
          </a:prstGeom>
          <a:noFill/>
        </p:spPr>
        <p:txBody>
          <a:bodyPr wrap="square" lIns="0" rIns="0" tIns="0" bIns="0" anchor="t">
            <a:spAutoFit/>
          </a:bodyPr>
          <a:lstStyle/>
          <a:p>
            <a:pPr algn="l">
              <a:lnSpc>
                <a:spcPct val="100000"/>
              </a:lnSpc>
              <a:spcBef>
                <a:spcPts val="0"/>
              </a:spcBef>
              <a:spcAft>
                <a:spcPts val="0"/>
              </a:spcAft>
            </a:pPr>
            <a:r>
              <a:rPr sz="7200" b="1">
                <a:solidFill>
                  <a:srgbClr val="00D785"/>
                </a:solidFill>
                <a:latin typeface="Arial"/>
              </a:rPr>
              <a:t>-191</a:t>
            </a:r>
          </a:p>
        </p:txBody>
      </p:sp>
      <p:sp>
        <p:nvSpPr>
          <p:cNvPr id="5" name="Point totals"/>
          <p:cNvSpPr txBox="1"/>
          <p:nvPr/>
        </p:nvSpPr>
        <p:spPr>
          <a:xfrm>
            <a:off x="6492240" y="1993392"/>
            <a:ext cx="4297680" cy="1143000"/>
          </a:xfrm>
          <a:prstGeom prst="rect">
            <a:avLst/>
          </a:prstGeom>
          <a:noFill/>
        </p:spPr>
        <p:txBody>
          <a:bodyPr wrap="square" lIns="0" rIns="0" tIns="0" bIns="0" anchor="t">
            <a:spAutoFit/>
          </a:bodyPr>
          <a:lstStyle/>
          <a:p>
            <a:pPr algn="l">
              <a:lnSpc>
                <a:spcPct val="125000"/>
              </a:lnSpc>
              <a:spcBef>
                <a:spcPts val="0"/>
              </a:spcBef>
              <a:spcAft>
                <a:spcPts val="0"/>
              </a:spcAft>
            </a:pPr>
            <a:r>
              <a:rPr sz="2600" b="1">
                <a:solidFill>
                  <a:srgbClr val="F4EFE4"/>
                </a:solidFill>
                <a:latin typeface="Arial"/>
              </a:rPr>
              <a:t>758 actual points
567 rule points</a:t>
            </a:r>
          </a:p>
        </p:txBody>
      </p:sp>
      <p:sp>
        <p:nvSpPr>
          <p:cNvPr id="6" name="Sample context"/>
          <p:cNvSpPr txBox="1"/>
          <p:nvPr/>
        </p:nvSpPr>
        <p:spPr>
          <a:xfrm>
            <a:off x="6492240" y="3401568"/>
            <a:ext cx="4297680" cy="36576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43 scored transfers  |  -4.44 per transfer</a:t>
            </a:r>
          </a:p>
        </p:txBody>
      </p:sp>
      <p:sp>
        <p:nvSpPr>
          <p:cNvPr id="7" name="Outcome counts"/>
          <p:cNvSpPr txBox="1"/>
          <p:nvPr/>
        </p:nvSpPr>
        <p:spPr>
          <a:xfrm>
            <a:off x="731520" y="5257800"/>
            <a:ext cx="10698480" cy="365760"/>
          </a:xfrm>
          <a:prstGeom prst="rect">
            <a:avLst/>
          </a:prstGeom>
          <a:noFill/>
        </p:spPr>
        <p:txBody>
          <a:bodyPr wrap="square" lIns="0" rIns="0" tIns="0" bIns="0" anchor="t">
            <a:spAutoFit/>
          </a:bodyPr>
          <a:lstStyle/>
          <a:p>
            <a:pPr algn="l">
              <a:lnSpc>
                <a:spcPct val="100000"/>
              </a:lnSpc>
              <a:spcBef>
                <a:spcPts val="0"/>
              </a:spcBef>
              <a:spcAft>
                <a:spcPts val="0"/>
              </a:spcAft>
            </a:pPr>
            <a:r>
              <a:rPr sz="1800" b="0">
                <a:solidFill>
                  <a:srgbClr val="8F9798"/>
                </a:solidFill>
                <a:latin typeface="Arial"/>
              </a:rPr>
              <a:t>14 wins  |  24 losses  |  5 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Headline comparison chart" descr="chart_1_headline.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Budget decomposition chart" descr="chart_2_decomposition.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Fair-fight comparison chart" descr="chart_3_fair_fights.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pic>
        <p:nvPicPr>
          <p:cNvPr id="2" name="Six case studies chart" descr="chart_4_cases.png"/>
          <p:cNvPicPr>
            <a:picLocks noChangeAspect="1"/>
          </p:cNvPicPr>
          <p:nvPr/>
        </p:nvPicPr>
        <p:blipFill>
          <a:blip r:embed="rId2"/>
          <a:stretch>
            <a:fillRect/>
          </a:stretch>
        </p:blipFill>
        <p:spPr>
          <a:xfrm>
            <a:off x="457200" y="609676"/>
            <a:ext cx="11277295" cy="56386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48640"/>
            <a:ext cx="10820095" cy="502920"/>
          </a:xfrm>
          <a:prstGeom prst="rect">
            <a:avLst/>
          </a:prstGeom>
          <a:noFill/>
        </p:spPr>
        <p:txBody>
          <a:bodyPr wrap="square" lIns="0" rIns="0" tIns="0" bIns="0" anchor="t">
            <a:spAutoFit/>
          </a:bodyPr>
          <a:lstStyle/>
          <a:p>
            <a:pPr algn="l">
              <a:lnSpc>
                <a:spcPct val="100000"/>
              </a:lnSpc>
              <a:spcBef>
                <a:spcPts val="0"/>
              </a:spcBef>
              <a:spcAft>
                <a:spcPts val="0"/>
              </a:spcAft>
            </a:pPr>
            <a:r>
              <a:rPr sz="3800" b="1">
                <a:solidFill>
                  <a:srgbClr val="F4EFE4"/>
                </a:solidFill>
                <a:latin typeface="Arial"/>
              </a:rPr>
              <a:t>Form alone is too weak to run the transfer.</a:t>
            </a:r>
          </a:p>
        </p:txBody>
      </p:sp>
      <p:sp>
        <p:nvSpPr>
          <p:cNvPr id="3" name="xGI stat"/>
          <p:cNvSpPr txBox="1"/>
          <p:nvPr/>
        </p:nvSpPr>
        <p:spPr>
          <a:xfrm>
            <a:off x="685800" y="1828800"/>
            <a:ext cx="3108960" cy="86868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00D785"/>
                </a:solidFill>
                <a:latin typeface="Arial"/>
              </a:rPr>
              <a:t>+0.35</a:t>
            </a:r>
          </a:p>
        </p:txBody>
      </p:sp>
      <p:sp>
        <p:nvSpPr>
          <p:cNvPr id="4" name="xGI label"/>
          <p:cNvSpPr txBox="1"/>
          <p:nvPr/>
        </p:nvSpPr>
        <p:spPr>
          <a:xfrm>
            <a:off x="731520" y="2834640"/>
            <a:ext cx="2926080" cy="256032"/>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00D785"/>
                </a:solidFill>
                <a:latin typeface="Arial"/>
              </a:rPr>
              <a:t>TRAILING xGI</a:t>
            </a:r>
          </a:p>
        </p:txBody>
      </p:sp>
      <p:sp>
        <p:nvSpPr>
          <p:cNvPr id="5" name="xGI caption"/>
          <p:cNvSpPr txBox="1"/>
          <p:nvPr/>
        </p:nvSpPr>
        <p:spPr>
          <a:xfrm>
            <a:off x="731520" y="3246120"/>
            <a:ext cx="2926080" cy="45720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Link with next-4-GW goals</a:t>
            </a:r>
          </a:p>
        </p:txBody>
      </p:sp>
      <p:sp>
        <p:nvSpPr>
          <p:cNvPr id="6" name="Form stat"/>
          <p:cNvSpPr txBox="1"/>
          <p:nvPr/>
        </p:nvSpPr>
        <p:spPr>
          <a:xfrm>
            <a:off x="4480560" y="1828800"/>
            <a:ext cx="3108960" cy="86868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F4EFE4"/>
                </a:solidFill>
                <a:latin typeface="Arial"/>
              </a:rPr>
              <a:t>+0.19</a:t>
            </a:r>
          </a:p>
        </p:txBody>
      </p:sp>
      <p:sp>
        <p:nvSpPr>
          <p:cNvPr id="7" name="Form label"/>
          <p:cNvSpPr txBox="1"/>
          <p:nvPr/>
        </p:nvSpPr>
        <p:spPr>
          <a:xfrm>
            <a:off x="4526280" y="2834640"/>
            <a:ext cx="2926080" cy="256032"/>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TRAILING FORM</a:t>
            </a:r>
          </a:p>
        </p:txBody>
      </p:sp>
      <p:sp>
        <p:nvSpPr>
          <p:cNvPr id="8" name="Form caption"/>
          <p:cNvSpPr txBox="1"/>
          <p:nvPr/>
        </p:nvSpPr>
        <p:spPr>
          <a:xfrm>
            <a:off x="4526280" y="3246120"/>
            <a:ext cx="2926080" cy="45720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Link with next-4-GW goals</a:t>
            </a:r>
          </a:p>
        </p:txBody>
      </p:sp>
      <p:sp>
        <p:nvSpPr>
          <p:cNvPr id="9" name="Agreement stat"/>
          <p:cNvSpPr txBox="1"/>
          <p:nvPr/>
        </p:nvSpPr>
        <p:spPr>
          <a:xfrm>
            <a:off x="8229600" y="1828800"/>
            <a:ext cx="2834640" cy="868680"/>
          </a:xfrm>
          <a:prstGeom prst="rect">
            <a:avLst/>
          </a:prstGeom>
          <a:noFill/>
        </p:spPr>
        <p:txBody>
          <a:bodyPr wrap="square" lIns="0" rIns="0" tIns="0" bIns="0" anchor="t">
            <a:spAutoFit/>
          </a:bodyPr>
          <a:lstStyle/>
          <a:p>
            <a:pPr algn="l">
              <a:lnSpc>
                <a:spcPct val="100000"/>
              </a:lnSpc>
              <a:spcBef>
                <a:spcPts val="0"/>
              </a:spcBef>
              <a:spcAft>
                <a:spcPts val="0"/>
              </a:spcAft>
            </a:pPr>
            <a:r>
              <a:rPr sz="6000" b="1">
                <a:solidFill>
                  <a:srgbClr val="F4EFE4"/>
                </a:solidFill>
                <a:latin typeface="Arial"/>
              </a:rPr>
              <a:t>3/46</a:t>
            </a:r>
          </a:p>
        </p:txBody>
      </p:sp>
      <p:sp>
        <p:nvSpPr>
          <p:cNvPr id="10" name="Agreement label"/>
          <p:cNvSpPr txBox="1"/>
          <p:nvPr/>
        </p:nvSpPr>
        <p:spPr>
          <a:xfrm>
            <a:off x="8275320" y="2834640"/>
            <a:ext cx="2743200" cy="256032"/>
          </a:xfrm>
          <a:prstGeom prst="rect">
            <a:avLst/>
          </a:prstGeom>
          <a:noFill/>
        </p:spPr>
        <p:txBody>
          <a:bodyPr wrap="square" lIns="0" rIns="0" tIns="0" bIns="0" anchor="t">
            <a:spAutoFit/>
          </a:bodyPr>
          <a:lstStyle/>
          <a:p>
            <a:pPr algn="l">
              <a:lnSpc>
                <a:spcPct val="100000"/>
              </a:lnSpc>
              <a:spcBef>
                <a:spcPts val="0"/>
              </a:spcBef>
              <a:spcAft>
                <a:spcPts val="0"/>
              </a:spcAft>
            </a:pPr>
            <a:r>
              <a:rPr sz="1300" b="1">
                <a:solidFill>
                  <a:srgbClr val="8F9798"/>
                </a:solidFill>
                <a:latin typeface="Arial"/>
              </a:rPr>
              <a:t>SAME PICK</a:t>
            </a:r>
          </a:p>
        </p:txBody>
      </p:sp>
      <p:sp>
        <p:nvSpPr>
          <p:cNvPr id="11" name="Agreement caption"/>
          <p:cNvSpPr txBox="1"/>
          <p:nvPr/>
        </p:nvSpPr>
        <p:spPr>
          <a:xfrm>
            <a:off x="8275320" y="3246120"/>
            <a:ext cx="2743200" cy="45720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The rule rarely matched you</a:t>
            </a:r>
          </a:p>
        </p:txBody>
      </p:sp>
      <p:sp>
        <p:nvSpPr>
          <p:cNvPr id="12" name="Context line"/>
          <p:cNvSpPr txBox="1"/>
          <p:nvPr/>
        </p:nvSpPr>
        <p:spPr>
          <a:xfrm>
            <a:off x="731520" y="5349240"/>
            <a:ext cx="10698480"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Prior attacker analysis used Spearman links. xGI carried the stronger forward signal.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48640"/>
            <a:ext cx="10820095" cy="50292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F4EFE4"/>
                </a:solidFill>
                <a:latin typeface="Arial"/>
              </a:rPr>
              <a:t>Keep judgment, but upgrade the screen.</a:t>
            </a:r>
          </a:p>
        </p:txBody>
      </p:sp>
      <p:sp>
        <p:nvSpPr>
          <p:cNvPr id="3" name="Action 1 number"/>
          <p:cNvSpPr txBox="1"/>
          <p:nvPr/>
        </p:nvSpPr>
        <p:spPr>
          <a:xfrm>
            <a:off x="731520" y="1508760"/>
            <a:ext cx="411480" cy="365760"/>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1</a:t>
            </a:r>
          </a:p>
        </p:txBody>
      </p:sp>
      <p:sp>
        <p:nvSpPr>
          <p:cNvPr id="4" name="Action 1 heading"/>
          <p:cNvSpPr txBox="1"/>
          <p:nvPr/>
        </p:nvSpPr>
        <p:spPr>
          <a:xfrm>
            <a:off x="1325880" y="1508760"/>
            <a:ext cx="8138160" cy="347472"/>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00D785"/>
                </a:solidFill>
                <a:latin typeface="Arial"/>
              </a:rPr>
              <a:t>Never cap a buy at the sale price.</a:t>
            </a:r>
          </a:p>
        </p:txBody>
      </p:sp>
      <p:sp>
        <p:nvSpPr>
          <p:cNvPr id="5" name="Action 1 body"/>
          <p:cNvSpPr txBox="1"/>
          <p:nvPr/>
        </p:nvSpPr>
        <p:spPr>
          <a:xfrm>
            <a:off x="1325880" y="1947672"/>
            <a:ext cx="8961120" cy="27432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Keep banked funds in the choice set.</a:t>
            </a:r>
          </a:p>
        </p:txBody>
      </p:sp>
      <p:sp>
        <p:nvSpPr>
          <p:cNvPr id="6" name="Action 2 number"/>
          <p:cNvSpPr txBox="1"/>
          <p:nvPr/>
        </p:nvSpPr>
        <p:spPr>
          <a:xfrm>
            <a:off x="731520" y="2624328"/>
            <a:ext cx="411480" cy="365760"/>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2</a:t>
            </a:r>
          </a:p>
        </p:txBody>
      </p:sp>
      <p:sp>
        <p:nvSpPr>
          <p:cNvPr id="7" name="Action 2 heading"/>
          <p:cNvSpPr txBox="1"/>
          <p:nvPr/>
        </p:nvSpPr>
        <p:spPr>
          <a:xfrm>
            <a:off x="1325880" y="2624328"/>
            <a:ext cx="8138160" cy="347472"/>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Screen attackers with trailing xGI.</a:t>
            </a:r>
          </a:p>
        </p:txBody>
      </p:sp>
      <p:sp>
        <p:nvSpPr>
          <p:cNvPr id="8" name="Action 2 body"/>
          <p:cNvSpPr txBox="1"/>
          <p:nvPr/>
        </p:nvSpPr>
        <p:spPr>
          <a:xfrm>
            <a:off x="1325880" y="3063240"/>
            <a:ext cx="8961120" cy="27432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Use raw form as context, not the engine.</a:t>
            </a:r>
          </a:p>
        </p:txBody>
      </p:sp>
      <p:sp>
        <p:nvSpPr>
          <p:cNvPr id="9" name="Action 3 number"/>
          <p:cNvSpPr txBox="1"/>
          <p:nvPr/>
        </p:nvSpPr>
        <p:spPr>
          <a:xfrm>
            <a:off x="731520" y="3739896"/>
            <a:ext cx="411480" cy="365760"/>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3</a:t>
            </a:r>
          </a:p>
        </p:txBody>
      </p:sp>
      <p:sp>
        <p:nvSpPr>
          <p:cNvPr id="10" name="Action 3 heading"/>
          <p:cNvSpPr txBox="1"/>
          <p:nvPr/>
        </p:nvSpPr>
        <p:spPr>
          <a:xfrm>
            <a:off x="1325880" y="3739896"/>
            <a:ext cx="8138160" cy="347472"/>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Keep the 45-minute screen.</a:t>
            </a:r>
          </a:p>
        </p:txBody>
      </p:sp>
      <p:sp>
        <p:nvSpPr>
          <p:cNvPr id="11" name="Action 3 body"/>
          <p:cNvSpPr txBox="1"/>
          <p:nvPr/>
        </p:nvSpPr>
        <p:spPr>
          <a:xfrm>
            <a:off x="1325880" y="4178808"/>
            <a:ext cx="8961120" cy="27432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It protects against weak playing-time bets.</a:t>
            </a:r>
          </a:p>
        </p:txBody>
      </p:sp>
      <p:sp>
        <p:nvSpPr>
          <p:cNvPr id="12" name="Action 4 number"/>
          <p:cNvSpPr txBox="1"/>
          <p:nvPr/>
        </p:nvSpPr>
        <p:spPr>
          <a:xfrm>
            <a:off x="731520" y="4855464"/>
            <a:ext cx="411480" cy="365760"/>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8F9798"/>
                </a:solidFill>
                <a:latin typeface="Arial"/>
              </a:rPr>
              <a:t>4</a:t>
            </a:r>
          </a:p>
        </p:txBody>
      </p:sp>
      <p:sp>
        <p:nvSpPr>
          <p:cNvPr id="13" name="Action 4 heading"/>
          <p:cNvSpPr txBox="1"/>
          <p:nvPr/>
        </p:nvSpPr>
        <p:spPr>
          <a:xfrm>
            <a:off x="1325880" y="4855464"/>
            <a:ext cx="8138160" cy="347472"/>
          </a:xfrm>
          <a:prstGeom prst="rect">
            <a:avLst/>
          </a:prstGeom>
          <a:noFill/>
        </p:spPr>
        <p:txBody>
          <a:bodyPr wrap="square" lIns="0" rIns="0" tIns="0" bIns="0" anchor="t">
            <a:spAutoFit/>
          </a:bodyPr>
          <a:lstStyle/>
          <a:p>
            <a:pPr algn="l">
              <a:lnSpc>
                <a:spcPct val="100000"/>
              </a:lnSpc>
              <a:spcBef>
                <a:spcPts val="0"/>
              </a:spcBef>
              <a:spcAft>
                <a:spcPts val="0"/>
              </a:spcAft>
            </a:pPr>
            <a:r>
              <a:rPr sz="2200" b="1">
                <a:solidFill>
                  <a:srgbClr val="F4EFE4"/>
                </a:solidFill>
                <a:latin typeface="Arial"/>
              </a:rPr>
              <a:t>Use the rule as a shortlist.</a:t>
            </a:r>
          </a:p>
        </p:txBody>
      </p:sp>
      <p:sp>
        <p:nvSpPr>
          <p:cNvPr id="14" name="Action 4 body"/>
          <p:cNvSpPr txBox="1"/>
          <p:nvPr/>
        </p:nvSpPr>
        <p:spPr>
          <a:xfrm>
            <a:off x="1325880" y="5294375"/>
            <a:ext cx="8961120" cy="274320"/>
          </a:xfrm>
          <a:prstGeom prst="rect">
            <a:avLst/>
          </a:prstGeom>
          <a:noFill/>
        </p:spPr>
        <p:txBody>
          <a:bodyPr wrap="square" lIns="0" rIns="0" tIns="0" bIns="0" anchor="t">
            <a:spAutoFit/>
          </a:bodyPr>
          <a:lstStyle/>
          <a:p>
            <a:pPr algn="l">
              <a:lnSpc>
                <a:spcPct val="100000"/>
              </a:lnSpc>
              <a:spcBef>
                <a:spcPts val="0"/>
              </a:spcBef>
              <a:spcAft>
                <a:spcPts val="0"/>
              </a:spcAft>
            </a:pPr>
            <a:r>
              <a:rPr sz="1500" b="0">
                <a:solidFill>
                  <a:srgbClr val="8F9798"/>
                </a:solidFill>
                <a:latin typeface="Arial"/>
              </a:rPr>
              <a:t>Make the final call with team context and transfer packages.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0"/>
        </a:solidFill>
        <a:effectLst/>
      </p:bgPr>
    </p:bg>
    <p:spTree>
      <p:nvGrpSpPr>
        <p:cNvPr id="1" name=""/>
        <p:cNvGrpSpPr/>
        <p:nvPr/>
      </p:nvGrpSpPr>
      <p:grpSpPr/>
      <p:sp>
        <p:nvSpPr>
          <p:cNvPr id="2" name="Title"/>
          <p:cNvSpPr txBox="1"/>
          <p:nvPr/>
        </p:nvSpPr>
        <p:spPr>
          <a:xfrm>
            <a:off x="685800" y="548640"/>
            <a:ext cx="10820095" cy="502920"/>
          </a:xfrm>
          <a:prstGeom prst="rect">
            <a:avLst/>
          </a:prstGeom>
          <a:noFill/>
        </p:spPr>
        <p:txBody>
          <a:bodyPr wrap="square" lIns="0" rIns="0" tIns="0" bIns="0" anchor="t">
            <a:spAutoFit/>
          </a:bodyPr>
          <a:lstStyle/>
          <a:p>
            <a:pPr algn="l">
              <a:lnSpc>
                <a:spcPct val="100000"/>
              </a:lnSpc>
              <a:spcBef>
                <a:spcPts val="0"/>
              </a:spcBef>
              <a:spcAft>
                <a:spcPts val="0"/>
              </a:spcAft>
            </a:pPr>
            <a:r>
              <a:rPr sz="4000" b="1">
                <a:solidFill>
                  <a:srgbClr val="00D785"/>
                </a:solidFill>
                <a:latin typeface="Arial"/>
              </a:rPr>
              <a:t>Keep judgment, upgrade the signal.</a:t>
            </a:r>
          </a:p>
        </p:txBody>
      </p:sp>
      <p:sp>
        <p:nvSpPr>
          <p:cNvPr id="3" name="Caveat header"/>
          <p:cNvSpPr txBox="1"/>
          <p:nvPr/>
        </p:nvSpPr>
        <p:spPr>
          <a:xfrm>
            <a:off x="731520" y="1417320"/>
            <a:ext cx="10698480" cy="365760"/>
          </a:xfrm>
          <a:prstGeom prst="rect">
            <a:avLst/>
          </a:prstGeom>
          <a:noFill/>
        </p:spPr>
        <p:txBody>
          <a:bodyPr wrap="square" lIns="0" rIns="0" tIns="0" bIns="0" anchor="t">
            <a:spAutoFit/>
          </a:bodyPr>
          <a:lstStyle/>
          <a:p>
            <a:pPr algn="l">
              <a:lnSpc>
                <a:spcPct val="100000"/>
              </a:lnSpc>
              <a:spcBef>
                <a:spcPts val="0"/>
              </a:spcBef>
              <a:spcAft>
                <a:spcPts val="0"/>
              </a:spcAft>
            </a:pPr>
            <a:r>
              <a:rPr sz="2000" b="1">
                <a:solidFill>
                  <a:srgbClr val="F4EFE4"/>
                </a:solidFill>
                <a:latin typeface="Arial"/>
              </a:rPr>
              <a:t>Read the result with these limits:</a:t>
            </a:r>
          </a:p>
        </p:txBody>
      </p:sp>
      <p:sp>
        <p:nvSpPr>
          <p:cNvPr id="4" name="Caveat 1 bullet"/>
          <p:cNvSpPr txBox="1"/>
          <p:nvPr/>
        </p:nvSpPr>
        <p:spPr>
          <a:xfrm>
            <a:off x="749808" y="1965960"/>
            <a:ext cx="274320" cy="29260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t>
            </a:r>
          </a:p>
        </p:txBody>
      </p:sp>
      <p:sp>
        <p:nvSpPr>
          <p:cNvPr id="5" name="Caveat 1 text"/>
          <p:cNvSpPr txBox="1"/>
          <p:nvPr/>
        </p:nvSpPr>
        <p:spPr>
          <a:xfrm>
            <a:off x="1115568" y="1965960"/>
            <a:ext cx="10058400" cy="56692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Descriptive replay, not a causal test.</a:t>
            </a:r>
          </a:p>
        </p:txBody>
      </p:sp>
      <p:sp>
        <p:nvSpPr>
          <p:cNvPr id="6" name="Caveat 2 bullet"/>
          <p:cNvSpPr txBox="1"/>
          <p:nvPr/>
        </p:nvSpPr>
        <p:spPr>
          <a:xfrm>
            <a:off x="749808" y="2715768"/>
            <a:ext cx="274320" cy="29260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t>
            </a:r>
          </a:p>
        </p:txBody>
      </p:sp>
      <p:sp>
        <p:nvSpPr>
          <p:cNvPr id="7" name="Caveat 2 text"/>
          <p:cNvSpPr txBox="1"/>
          <p:nvPr/>
        </p:nvSpPr>
        <p:spPr>
          <a:xfrm>
            <a:off x="1115568" y="2715768"/>
            <a:ext cx="10058400" cy="56692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One manager, one season, n=43 scored transfers.</a:t>
            </a:r>
          </a:p>
        </p:txBody>
      </p:sp>
      <p:sp>
        <p:nvSpPr>
          <p:cNvPr id="8" name="Caveat 3 bullet"/>
          <p:cNvSpPr txBox="1"/>
          <p:nvPr/>
        </p:nvSpPr>
        <p:spPr>
          <a:xfrm>
            <a:off x="749808" y="3465575"/>
            <a:ext cx="274320" cy="29260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t>
            </a:r>
          </a:p>
        </p:txBody>
      </p:sp>
      <p:sp>
        <p:nvSpPr>
          <p:cNvPr id="9" name="Caveat 3 text"/>
          <p:cNvSpPr txBox="1"/>
          <p:nvPr/>
        </p:nvSpPr>
        <p:spPr>
          <a:xfrm>
            <a:off x="1115568" y="3465575"/>
            <a:ext cx="10058400" cy="56692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Candidate prices are season-static, not deadline prices. Cap checks at +£0.3m / -£0.3m stayed negative: -209 / -229.</a:t>
            </a:r>
          </a:p>
        </p:txBody>
      </p:sp>
      <p:sp>
        <p:nvSpPr>
          <p:cNvPr id="10" name="Caveat 4 bullet"/>
          <p:cNvSpPr txBox="1"/>
          <p:nvPr/>
        </p:nvSpPr>
        <p:spPr>
          <a:xfrm>
            <a:off x="749808" y="4215383"/>
            <a:ext cx="274320" cy="29260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t>
            </a:r>
          </a:p>
        </p:txBody>
      </p:sp>
      <p:sp>
        <p:nvSpPr>
          <p:cNvPr id="11" name="Caveat 4 text"/>
          <p:cNvSpPr txBox="1"/>
          <p:nvPr/>
        </p:nvSpPr>
        <p:spPr>
          <a:xfrm>
            <a:off x="1115568" y="4215383"/>
            <a:ext cx="10058400" cy="56692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Holding windows ignore captaincy, benching, and multi-transfer packages.</a:t>
            </a:r>
          </a:p>
        </p:txBody>
      </p:sp>
      <p:sp>
        <p:nvSpPr>
          <p:cNvPr id="12" name="Caveat 5 bullet"/>
          <p:cNvSpPr txBox="1"/>
          <p:nvPr/>
        </p:nvSpPr>
        <p:spPr>
          <a:xfrm>
            <a:off x="749808" y="4965192"/>
            <a:ext cx="274320" cy="29260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8F9798"/>
                </a:solidFill>
                <a:latin typeface="Arial"/>
              </a:rPr>
              <a:t>•</a:t>
            </a:r>
          </a:p>
        </p:txBody>
      </p:sp>
      <p:sp>
        <p:nvSpPr>
          <p:cNvPr id="13" name="Caveat 5 text"/>
          <p:cNvSpPr txBox="1"/>
          <p:nvPr/>
        </p:nvSpPr>
        <p:spPr>
          <a:xfrm>
            <a:off x="1115568" y="4965192"/>
            <a:ext cx="10058400" cy="566928"/>
          </a:xfrm>
          <a:prstGeom prst="rect">
            <a:avLst/>
          </a:prstGeom>
          <a:noFill/>
        </p:spPr>
        <p:txBody>
          <a:bodyPr wrap="square" lIns="0" rIns="0" tIns="0" bIns="0" anchor="t">
            <a:spAutoFit/>
          </a:bodyPr>
          <a:lstStyle/>
          <a:p>
            <a:pPr algn="l">
              <a:lnSpc>
                <a:spcPct val="100000"/>
              </a:lnSpc>
              <a:spcBef>
                <a:spcPts val="0"/>
              </a:spcBef>
              <a:spcAft>
                <a:spcPts val="0"/>
              </a:spcAft>
            </a:pPr>
            <a:r>
              <a:rPr sz="1600" b="0">
                <a:solidFill>
                  <a:srgbClr val="F4EFE4"/>
                </a:solidFill>
                <a:latin typeface="Arial"/>
              </a:rPr>
              <a:t>The fair-fight subset is small at n=23, so near parity is indicative, not precise.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