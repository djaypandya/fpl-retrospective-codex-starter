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two reports appear to disagree, but they ask different questions. The key is to separate the opponents and the scoring units. The 159 simulation gap and 197 replay gap use different metrics and cannot be compared as magnitudes.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left number compares two full strategies across 40 starting squads. The right number compares one manager's actual incoming players with rule picks over fixed holding windows. The 159 and 197 gaps use different metrics and must not be compared in size.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reconciliation is an opponent change, not a statistical trick. The rule is strong against a model and passivity, but a skilled human can sit above it. The 159 and 197 results remain different metrics.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common replay ranks the human at 784, the rule at 587, and holding at 534. The model sits beside the rule only because the separate transfer-layer simulation was a tie. The 159 and 197 gaps use different metrics.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rule wins against the model and no transfers in the 40-start strategy simulation. It loses against the human but beats holding in the 45-window replay. The 159 simulation gap and 197 replay gap use different metrics.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notebook's screened form-to-points rank link is 0.20. The replay story's form-to-goals link is 0.19. The targets differ, but both are weak. The studies also share a safe-rule failure mode. The 159 and 197 gaps remain different metrics.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rule is a strong cheap floor because it beats holding and ties the model on transfers. It is not a ceiling because the human replay result is higher and judgment can use role changes and package context. The 159 and 197 gaps use different metrics.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Start with availability, use the rule to shortlist, then add xGI, fixtures, package budget, and ceiling judgment. A new model must beat the rule on full decision points. Keep 159 and 197 separate because they use different metrics.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This is the main reading rule. The 159 result is a paired mean simulated-season strategy gap. The 197 result is a summed one-manager transfer replay gap. They use different metrics. Other limits include luck, replay omissions, filter exclusions, and no complete model replay score.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close is practical. Keep the simple floor, then use human judgment for the ceiling. The reports reconcile through different opponents, while the 159 and 197 gaps remain different metrics that cannot be compared in size.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Kicker"/>
          <p:cNvSpPr txBox="1"/>
          <p:nvPr/>
        </p:nvSpPr>
        <p:spPr>
          <a:xfrm>
            <a:off x="685800" y="749808"/>
            <a:ext cx="10817352" cy="274320"/>
          </a:xfrm>
          <a:prstGeom prst="rect">
            <a:avLst/>
          </a:prstGeom>
          <a:noFill/>
        </p:spPr>
        <p:txBody>
          <a:bodyPr wrap="square" lIns="0" rIns="0" tIns="0" bIns="0" anchor="t">
            <a:spAutoFit/>
          </a:bodyPr>
          <a:lstStyle/>
          <a:p>
            <a:pPr algn="ctr">
              <a:lnSpc>
                <a:spcPct val="100000"/>
              </a:lnSpc>
              <a:spcBef>
                <a:spcPts val="0"/>
              </a:spcBef>
              <a:spcAft>
                <a:spcPts val="0"/>
              </a:spcAft>
            </a:pPr>
            <a:r>
              <a:rPr sz="1500" b="1">
                <a:solidFill>
                  <a:srgbClr val="00D785"/>
                </a:solidFill>
                <a:latin typeface="Arial"/>
              </a:rPr>
              <a:t>FPL ANALYSIS RECONCILIATION</a:t>
            </a:r>
          </a:p>
        </p:txBody>
      </p:sp>
      <p:sp>
        <p:nvSpPr>
          <p:cNvPr id="3" name="Title"/>
          <p:cNvSpPr txBox="1"/>
          <p:nvPr/>
        </p:nvSpPr>
        <p:spPr>
          <a:xfrm>
            <a:off x="685800" y="2057400"/>
            <a:ext cx="10817352" cy="777240"/>
          </a:xfrm>
          <a:prstGeom prst="rect">
            <a:avLst/>
          </a:prstGeom>
          <a:noFill/>
        </p:spPr>
        <p:txBody>
          <a:bodyPr wrap="square" lIns="0" rIns="0" tIns="0" bIns="0" anchor="ctr">
            <a:spAutoFit/>
          </a:bodyPr>
          <a:lstStyle/>
          <a:p>
            <a:pPr algn="ctr">
              <a:lnSpc>
                <a:spcPct val="100000"/>
              </a:lnSpc>
              <a:spcBef>
                <a:spcPts val="0"/>
              </a:spcBef>
              <a:spcAft>
                <a:spcPts val="0"/>
              </a:spcAft>
            </a:pPr>
            <a:r>
              <a:rPr sz="5400" b="1">
                <a:solidFill>
                  <a:srgbClr val="F4EFE4"/>
                </a:solidFill>
                <a:latin typeface="Arial"/>
              </a:rPr>
              <a:t>One FPL truth, not two</a:t>
            </a:r>
          </a:p>
        </p:txBody>
      </p:sp>
      <p:sp>
        <p:nvSpPr>
          <p:cNvPr id="4" name="Subtitle"/>
          <p:cNvSpPr txBox="1"/>
          <p:nvPr/>
        </p:nvSpPr>
        <p:spPr>
          <a:xfrm>
            <a:off x="1143000" y="3136392"/>
            <a:ext cx="9902952" cy="502920"/>
          </a:xfrm>
          <a:prstGeom prst="rect">
            <a:avLst/>
          </a:prstGeom>
          <a:noFill/>
        </p:spPr>
        <p:txBody>
          <a:bodyPr wrap="square" lIns="0" rIns="0" tIns="0" bIns="0" anchor="t">
            <a:spAutoFit/>
          </a:bodyPr>
          <a:lstStyle/>
          <a:p>
            <a:pPr algn="ctr">
              <a:lnSpc>
                <a:spcPct val="100000"/>
              </a:lnSpc>
              <a:spcBef>
                <a:spcPts val="0"/>
              </a:spcBef>
              <a:spcAft>
                <a:spcPts val="0"/>
              </a:spcAft>
            </a:pPr>
            <a:r>
              <a:rPr sz="2200" b="0">
                <a:solidFill>
                  <a:srgbClr val="8F9798"/>
                </a:solidFill>
                <a:latin typeface="Arial"/>
              </a:rPr>
              <a:t>Why a simple rule can beat a model and still lose to a skilled human</a:t>
            </a:r>
          </a:p>
        </p:txBody>
      </p:sp>
      <p:sp>
        <p:nvSpPr>
          <p:cNvPr id="5" name="Context"/>
          <p:cNvSpPr txBox="1"/>
          <p:nvPr/>
        </p:nvSpPr>
        <p:spPr>
          <a:xfrm>
            <a:off x="685800" y="5358384"/>
            <a:ext cx="10817352" cy="256032"/>
          </a:xfrm>
          <a:prstGeom prst="rect">
            <a:avLst/>
          </a:prstGeom>
          <a:noFill/>
        </p:spPr>
        <p:txBody>
          <a:bodyPr wrap="square" lIns="0" rIns="0" tIns="0" bIns="0" anchor="t">
            <a:spAutoFit/>
          </a:bodyPr>
          <a:lstStyle/>
          <a:p>
            <a:pPr algn="ctr">
              <a:lnSpc>
                <a:spcPct val="100000"/>
              </a:lnSpc>
              <a:spcBef>
                <a:spcPts val="0"/>
              </a:spcBef>
              <a:spcAft>
                <a:spcPts val="0"/>
              </a:spcAft>
            </a:pPr>
            <a:r>
              <a:rPr sz="1500" b="0">
                <a:solidFill>
                  <a:srgbClr val="8F9798"/>
                </a:solidFill>
                <a:latin typeface="Arial"/>
              </a:rPr>
              <a:t>Entry 816200  |  FPL 2025/26</a:t>
            </a:r>
          </a:p>
        </p:txBody>
      </p:sp>
      <p:sp>
        <p:nvSpPr>
          <p:cNvPr id="6" name="Metric guard footer"/>
          <p:cNvSpPr txBox="1"/>
          <p:nvPr/>
        </p:nvSpPr>
        <p:spPr>
          <a:xfrm>
            <a:off x="685800" y="6537960"/>
            <a:ext cx="10817352" cy="164592"/>
          </a:xfrm>
          <a:prstGeom prst="rect">
            <a:avLst/>
          </a:prstGeom>
          <a:noFill/>
        </p:spPr>
        <p:txBody>
          <a:bodyPr wrap="square" lIns="0" rIns="0" tIns="0" bIns="0" anchor="ctr">
            <a:spAutoFit/>
          </a:bodyPr>
          <a:lstStyle/>
          <a:p>
            <a:pPr algn="ctr">
              <a:lnSpc>
                <a:spcPct val="100000"/>
              </a:lnSpc>
              <a:spcBef>
                <a:spcPts val="0"/>
              </a:spcBef>
              <a:spcAft>
                <a:spcPts val="0"/>
              </a:spcAft>
            </a:pPr>
            <a:r>
              <a:rPr sz="1000" b="0">
                <a:solidFill>
                  <a:srgbClr val="8F9798"/>
                </a:solidFill>
                <a:latin typeface="Arial"/>
              </a:rPr>
              <a:t>159 and 197 use different metrics. Compare direction, never magnitude.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475488"/>
            <a:ext cx="10817352" cy="502920"/>
          </a:xfrm>
          <a:prstGeom prst="rect">
            <a:avLst/>
          </a:prstGeom>
          <a:noFill/>
        </p:spPr>
        <p:txBody>
          <a:bodyPr wrap="square" lIns="0" rIns="0" tIns="0" bIns="0" anchor="t">
            <a:spAutoFit/>
          </a:bodyPr>
          <a:lstStyle/>
          <a:p>
            <a:pPr algn="l">
              <a:lnSpc>
                <a:spcPct val="100000"/>
              </a:lnSpc>
              <a:spcBef>
                <a:spcPts val="0"/>
              </a:spcBef>
              <a:spcAft>
                <a:spcPts val="0"/>
              </a:spcAft>
            </a:pPr>
            <a:r>
              <a:rPr sz="3800" b="1">
                <a:solidFill>
                  <a:srgbClr val="F4EFE4"/>
                </a:solidFill>
                <a:latin typeface="Arial"/>
              </a:rPr>
              <a:t>The headlines look opposite</a:t>
            </a:r>
          </a:p>
        </p:txBody>
      </p:sp>
      <p:sp>
        <p:nvSpPr>
          <p:cNvPr id="3" name="Left label"/>
          <p:cNvSpPr txBox="1"/>
          <p:nvPr/>
        </p:nvSpPr>
        <p:spPr>
          <a:xfrm>
            <a:off x="731520" y="1417320"/>
            <a:ext cx="5029200" cy="274320"/>
          </a:xfrm>
          <a:prstGeom prst="rect">
            <a:avLst/>
          </a:prstGeom>
          <a:noFill/>
        </p:spPr>
        <p:txBody>
          <a:bodyPr wrap="square" lIns="0" rIns="0" tIns="0" bIns="0" anchor="t">
            <a:spAutoFit/>
          </a:bodyPr>
          <a:lstStyle/>
          <a:p>
            <a:pPr algn="l">
              <a:lnSpc>
                <a:spcPct val="100000"/>
              </a:lnSpc>
              <a:spcBef>
                <a:spcPts val="0"/>
              </a:spcBef>
              <a:spcAft>
                <a:spcPts val="0"/>
              </a:spcAft>
            </a:pPr>
            <a:r>
              <a:rPr sz="1400" b="1">
                <a:solidFill>
                  <a:srgbClr val="8F9798"/>
                </a:solidFill>
                <a:latin typeface="Arial"/>
              </a:rPr>
              <a:t>40-START STRATEGY SIM</a:t>
            </a:r>
          </a:p>
        </p:txBody>
      </p:sp>
      <p:sp>
        <p:nvSpPr>
          <p:cNvPr id="4" name="Left stat"/>
          <p:cNvSpPr txBox="1"/>
          <p:nvPr/>
        </p:nvSpPr>
        <p:spPr>
          <a:xfrm>
            <a:off x="713232" y="1874519"/>
            <a:ext cx="2743200" cy="822960"/>
          </a:xfrm>
          <a:prstGeom prst="rect">
            <a:avLst/>
          </a:prstGeom>
          <a:noFill/>
        </p:spPr>
        <p:txBody>
          <a:bodyPr wrap="square" lIns="0" rIns="0" tIns="0" bIns="0" anchor="t">
            <a:spAutoFit/>
          </a:bodyPr>
          <a:lstStyle/>
          <a:p>
            <a:pPr algn="l">
              <a:lnSpc>
                <a:spcPct val="100000"/>
              </a:lnSpc>
              <a:spcBef>
                <a:spcPts val="0"/>
              </a:spcBef>
              <a:spcAft>
                <a:spcPts val="0"/>
              </a:spcAft>
            </a:pPr>
            <a:r>
              <a:rPr sz="6000" b="1">
                <a:solidFill>
                  <a:srgbClr val="00D785"/>
                </a:solidFill>
                <a:latin typeface="Arial"/>
              </a:rPr>
              <a:t>+159</a:t>
            </a:r>
          </a:p>
        </p:txBody>
      </p:sp>
      <p:sp>
        <p:nvSpPr>
          <p:cNvPr id="5" name="Left headline"/>
          <p:cNvSpPr txBox="1"/>
          <p:nvPr/>
        </p:nvSpPr>
        <p:spPr>
          <a:xfrm>
            <a:off x="2788920" y="1975104"/>
            <a:ext cx="2468880" cy="822960"/>
          </a:xfrm>
          <a:prstGeom prst="rect">
            <a:avLst/>
          </a:prstGeom>
          <a:noFill/>
        </p:spPr>
        <p:txBody>
          <a:bodyPr wrap="square" lIns="0" rIns="0" tIns="0" bIns="0" anchor="t">
            <a:spAutoFit/>
          </a:bodyPr>
          <a:lstStyle/>
          <a:p>
            <a:pPr algn="l">
              <a:lnSpc>
                <a:spcPct val="105000"/>
              </a:lnSpc>
              <a:spcBef>
                <a:spcPts val="0"/>
              </a:spcBef>
              <a:spcAft>
                <a:spcPts val="0"/>
              </a:spcAft>
            </a:pPr>
            <a:r>
              <a:rPr sz="2500" b="1">
                <a:solidFill>
                  <a:srgbClr val="F4EFE4"/>
                </a:solidFill>
                <a:latin typeface="Arial"/>
              </a:rPr>
              <a:t>simple rule
vs model</a:t>
            </a:r>
          </a:p>
        </p:txBody>
      </p:sp>
      <p:sp>
        <p:nvSpPr>
          <p:cNvPr id="6" name="Left detail"/>
          <p:cNvSpPr txBox="1"/>
          <p:nvPr/>
        </p:nvSpPr>
        <p:spPr>
          <a:xfrm>
            <a:off x="749808" y="3154680"/>
            <a:ext cx="4754880" cy="365760"/>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8F9798"/>
                </a:solidFill>
                <a:latin typeface="Arial"/>
              </a:rPr>
              <a:t>The model also beat hold by 199.</a:t>
            </a:r>
          </a:p>
        </p:txBody>
      </p:sp>
      <p:sp>
        <p:nvSpPr>
          <p:cNvPr id="7" name="Right label"/>
          <p:cNvSpPr txBox="1"/>
          <p:nvPr/>
        </p:nvSpPr>
        <p:spPr>
          <a:xfrm>
            <a:off x="6263640" y="1417320"/>
            <a:ext cx="5120640" cy="274320"/>
          </a:xfrm>
          <a:prstGeom prst="rect">
            <a:avLst/>
          </a:prstGeom>
          <a:noFill/>
        </p:spPr>
        <p:txBody>
          <a:bodyPr wrap="square" lIns="0" rIns="0" tIns="0" bIns="0" anchor="t">
            <a:spAutoFit/>
          </a:bodyPr>
          <a:lstStyle/>
          <a:p>
            <a:pPr algn="l">
              <a:lnSpc>
                <a:spcPct val="100000"/>
              </a:lnSpc>
              <a:spcBef>
                <a:spcPts val="0"/>
              </a:spcBef>
              <a:spcAft>
                <a:spcPts val="0"/>
              </a:spcAft>
            </a:pPr>
            <a:r>
              <a:rPr sz="1400" b="1">
                <a:solidFill>
                  <a:srgbClr val="8F9798"/>
                </a:solidFill>
                <a:latin typeface="Arial"/>
              </a:rPr>
              <a:t>45-WINDOW TRANSFER REPLAY</a:t>
            </a:r>
          </a:p>
        </p:txBody>
      </p:sp>
      <p:sp>
        <p:nvSpPr>
          <p:cNvPr id="8" name="Right stat"/>
          <p:cNvSpPr txBox="1"/>
          <p:nvPr/>
        </p:nvSpPr>
        <p:spPr>
          <a:xfrm>
            <a:off x="6236208" y="1874519"/>
            <a:ext cx="2743200" cy="822960"/>
          </a:xfrm>
          <a:prstGeom prst="rect">
            <a:avLst/>
          </a:prstGeom>
          <a:noFill/>
        </p:spPr>
        <p:txBody>
          <a:bodyPr wrap="square" lIns="0" rIns="0" tIns="0" bIns="0" anchor="t">
            <a:spAutoFit/>
          </a:bodyPr>
          <a:lstStyle/>
          <a:p>
            <a:pPr algn="l">
              <a:lnSpc>
                <a:spcPct val="100000"/>
              </a:lnSpc>
              <a:spcBef>
                <a:spcPts val="0"/>
              </a:spcBef>
              <a:spcAft>
                <a:spcPts val="0"/>
              </a:spcAft>
            </a:pPr>
            <a:r>
              <a:rPr sz="6000" b="1">
                <a:solidFill>
                  <a:srgbClr val="00D785"/>
                </a:solidFill>
                <a:latin typeface="Arial"/>
              </a:rPr>
              <a:t>+197</a:t>
            </a:r>
          </a:p>
        </p:txBody>
      </p:sp>
      <p:sp>
        <p:nvSpPr>
          <p:cNvPr id="9" name="Right headline"/>
          <p:cNvSpPr txBox="1"/>
          <p:nvPr/>
        </p:nvSpPr>
        <p:spPr>
          <a:xfrm>
            <a:off x="8458200" y="1975104"/>
            <a:ext cx="2743200" cy="822960"/>
          </a:xfrm>
          <a:prstGeom prst="rect">
            <a:avLst/>
          </a:prstGeom>
          <a:noFill/>
        </p:spPr>
        <p:txBody>
          <a:bodyPr wrap="square" lIns="0" rIns="0" tIns="0" bIns="0" anchor="t">
            <a:spAutoFit/>
          </a:bodyPr>
          <a:lstStyle/>
          <a:p>
            <a:pPr algn="l">
              <a:lnSpc>
                <a:spcPct val="105000"/>
              </a:lnSpc>
              <a:spcBef>
                <a:spcPts val="0"/>
              </a:spcBef>
              <a:spcAft>
                <a:spcPts val="0"/>
              </a:spcAft>
            </a:pPr>
            <a:r>
              <a:rPr sz="2500" b="1">
                <a:solidFill>
                  <a:srgbClr val="F4EFE4"/>
                </a:solidFill>
                <a:latin typeface="Arial"/>
              </a:rPr>
              <a:t>human buys
vs simple rule</a:t>
            </a:r>
          </a:p>
        </p:txBody>
      </p:sp>
      <p:sp>
        <p:nvSpPr>
          <p:cNvPr id="10" name="Right detail"/>
          <p:cNvSpPr txBox="1"/>
          <p:nvPr/>
        </p:nvSpPr>
        <p:spPr>
          <a:xfrm>
            <a:off x="6281928" y="3154680"/>
            <a:ext cx="4754880" cy="365760"/>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8F9798"/>
                </a:solidFill>
                <a:latin typeface="Arial"/>
              </a:rPr>
              <a:t>The rule still beat holding by 53.</a:t>
            </a:r>
          </a:p>
        </p:txBody>
      </p:sp>
      <p:sp>
        <p:nvSpPr>
          <p:cNvPr id="11" name="Takeaway"/>
          <p:cNvSpPr txBox="1"/>
          <p:nvPr/>
        </p:nvSpPr>
        <p:spPr>
          <a:xfrm>
            <a:off x="731520" y="4892040"/>
            <a:ext cx="10698480" cy="457200"/>
          </a:xfrm>
          <a:prstGeom prst="rect">
            <a:avLst/>
          </a:prstGeom>
          <a:noFill/>
        </p:spPr>
        <p:txBody>
          <a:bodyPr wrap="square" lIns="0" rIns="0" tIns="0" bIns="0" anchor="t">
            <a:spAutoFit/>
          </a:bodyPr>
          <a:lstStyle/>
          <a:p>
            <a:pPr algn="ctr">
              <a:lnSpc>
                <a:spcPct val="100000"/>
              </a:lnSpc>
              <a:spcBef>
                <a:spcPts val="0"/>
              </a:spcBef>
              <a:spcAft>
                <a:spcPts val="0"/>
              </a:spcAft>
            </a:pPr>
            <a:r>
              <a:rPr sz="2400" b="1">
                <a:solidFill>
                  <a:srgbClr val="F4EFE4"/>
                </a:solidFill>
                <a:latin typeface="Arial"/>
              </a:rPr>
              <a:t>The signs differ because the opponents differ.</a:t>
            </a:r>
          </a:p>
        </p:txBody>
      </p:sp>
      <p:sp>
        <p:nvSpPr>
          <p:cNvPr id="12" name="Currency warning"/>
          <p:cNvSpPr txBox="1"/>
          <p:nvPr/>
        </p:nvSpPr>
        <p:spPr>
          <a:xfrm>
            <a:off x="731520" y="5440680"/>
            <a:ext cx="10698480" cy="320040"/>
          </a:xfrm>
          <a:prstGeom prst="rect">
            <a:avLst/>
          </a:prstGeom>
          <a:noFill/>
        </p:spPr>
        <p:txBody>
          <a:bodyPr wrap="square" lIns="0" rIns="0" tIns="0" bIns="0" anchor="t">
            <a:spAutoFit/>
          </a:bodyPr>
          <a:lstStyle/>
          <a:p>
            <a:pPr algn="ctr">
              <a:lnSpc>
                <a:spcPct val="100000"/>
              </a:lnSpc>
              <a:spcBef>
                <a:spcPts val="0"/>
              </a:spcBef>
              <a:spcAft>
                <a:spcPts val="0"/>
              </a:spcAft>
            </a:pPr>
            <a:r>
              <a:rPr sz="1700" b="1">
                <a:solidFill>
                  <a:srgbClr val="00D785"/>
                </a:solidFill>
                <a:latin typeface="Arial"/>
              </a:rPr>
              <a:t>159 is a simulated-season mean. 197 is a summed replay gap.</a:t>
            </a:r>
          </a:p>
        </p:txBody>
      </p:sp>
      <p:sp>
        <p:nvSpPr>
          <p:cNvPr id="13" name="Metric guard footer"/>
          <p:cNvSpPr txBox="1"/>
          <p:nvPr/>
        </p:nvSpPr>
        <p:spPr>
          <a:xfrm>
            <a:off x="685800" y="6537960"/>
            <a:ext cx="10817352" cy="164592"/>
          </a:xfrm>
          <a:prstGeom prst="rect">
            <a:avLst/>
          </a:prstGeom>
          <a:noFill/>
        </p:spPr>
        <p:txBody>
          <a:bodyPr wrap="square" lIns="0" rIns="0" tIns="0" bIns="0" anchor="ctr">
            <a:spAutoFit/>
          </a:bodyPr>
          <a:lstStyle/>
          <a:p>
            <a:pPr algn="ctr">
              <a:lnSpc>
                <a:spcPct val="100000"/>
              </a:lnSpc>
              <a:spcBef>
                <a:spcPts val="0"/>
              </a:spcBef>
              <a:spcAft>
                <a:spcPts val="0"/>
              </a:spcAft>
            </a:pPr>
            <a:r>
              <a:rPr sz="1000" b="0">
                <a:solidFill>
                  <a:srgbClr val="8F9798"/>
                </a:solidFill>
                <a:latin typeface="Arial"/>
              </a:rPr>
              <a:t>159 and 197 use different metrics. Compare direction, never magnitude.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475488"/>
            <a:ext cx="10817352" cy="502920"/>
          </a:xfrm>
          <a:prstGeom prst="rect">
            <a:avLst/>
          </a:prstGeom>
          <a:noFill/>
        </p:spPr>
        <p:txBody>
          <a:bodyPr wrap="square" lIns="0" rIns="0" tIns="0" bIns="0" anchor="t">
            <a:spAutoFit/>
          </a:bodyPr>
          <a:lstStyle/>
          <a:p>
            <a:pPr algn="l">
              <a:lnSpc>
                <a:spcPct val="100000"/>
              </a:lnSpc>
              <a:spcBef>
                <a:spcPts val="0"/>
              </a:spcBef>
              <a:spcAft>
                <a:spcPts val="0"/>
              </a:spcAft>
            </a:pPr>
            <a:r>
              <a:rPr sz="3800" b="1">
                <a:solidFill>
                  <a:srgbClr val="00D785"/>
                </a:solidFill>
                <a:latin typeface="Arial"/>
              </a:rPr>
              <a:t>The opponent changed</a:t>
            </a:r>
          </a:p>
        </p:txBody>
      </p:sp>
      <p:sp>
        <p:nvSpPr>
          <p:cNvPr id="3" name="Notebook label"/>
          <p:cNvSpPr txBox="1"/>
          <p:nvPr/>
        </p:nvSpPr>
        <p:spPr>
          <a:xfrm>
            <a:off x="731520" y="1417320"/>
            <a:ext cx="5029200" cy="274320"/>
          </a:xfrm>
          <a:prstGeom prst="rect">
            <a:avLst/>
          </a:prstGeom>
          <a:noFill/>
        </p:spPr>
        <p:txBody>
          <a:bodyPr wrap="square" lIns="0" rIns="0" tIns="0" bIns="0" anchor="t">
            <a:spAutoFit/>
          </a:bodyPr>
          <a:lstStyle/>
          <a:p>
            <a:pPr algn="l">
              <a:lnSpc>
                <a:spcPct val="100000"/>
              </a:lnSpc>
              <a:spcBef>
                <a:spcPts val="0"/>
              </a:spcBef>
              <a:spcAft>
                <a:spcPts val="0"/>
              </a:spcAft>
            </a:pPr>
            <a:r>
              <a:rPr sz="1400" b="1">
                <a:solidFill>
                  <a:srgbClr val="8F9798"/>
                </a:solidFill>
                <a:latin typeface="Arial"/>
              </a:rPr>
              <a:t>NOTEBOOK QUESTION</a:t>
            </a:r>
          </a:p>
        </p:txBody>
      </p:sp>
      <p:sp>
        <p:nvSpPr>
          <p:cNvPr id="4" name="Notebook question"/>
          <p:cNvSpPr txBox="1"/>
          <p:nvPr/>
        </p:nvSpPr>
        <p:spPr>
          <a:xfrm>
            <a:off x="731520" y="1874519"/>
            <a:ext cx="4937760" cy="1143000"/>
          </a:xfrm>
          <a:prstGeom prst="rect">
            <a:avLst/>
          </a:prstGeom>
          <a:noFill/>
        </p:spPr>
        <p:txBody>
          <a:bodyPr wrap="square" lIns="0" rIns="0" tIns="0" bIns="0" anchor="t">
            <a:spAutoFit/>
          </a:bodyPr>
          <a:lstStyle/>
          <a:p>
            <a:pPr algn="l">
              <a:lnSpc>
                <a:spcPct val="105000"/>
              </a:lnSpc>
              <a:spcBef>
                <a:spcPts val="0"/>
              </a:spcBef>
              <a:spcAft>
                <a:spcPts val="0"/>
              </a:spcAft>
            </a:pPr>
            <a:r>
              <a:rPr sz="3000" b="1">
                <a:solidFill>
                  <a:srgbClr val="F4EFE4"/>
                </a:solidFill>
                <a:latin typeface="Arial"/>
              </a:rPr>
              <a:t>Can the rule beat
a model and no transfers?</a:t>
            </a:r>
          </a:p>
        </p:txBody>
      </p:sp>
      <p:sp>
        <p:nvSpPr>
          <p:cNvPr id="5" name="Notebook answer"/>
          <p:cNvSpPr txBox="1"/>
          <p:nvPr/>
        </p:nvSpPr>
        <p:spPr>
          <a:xfrm>
            <a:off x="731520" y="3310128"/>
            <a:ext cx="4937760" cy="457200"/>
          </a:xfrm>
          <a:prstGeom prst="rect">
            <a:avLst/>
          </a:prstGeom>
          <a:noFill/>
        </p:spPr>
        <p:txBody>
          <a:bodyPr wrap="square" lIns="0" rIns="0" tIns="0" bIns="0" anchor="t">
            <a:spAutoFit/>
          </a:bodyPr>
          <a:lstStyle/>
          <a:p>
            <a:pPr algn="l">
              <a:lnSpc>
                <a:spcPct val="100000"/>
              </a:lnSpc>
              <a:spcBef>
                <a:spcPts val="0"/>
              </a:spcBef>
              <a:spcAft>
                <a:spcPts val="0"/>
              </a:spcAft>
            </a:pPr>
            <a:r>
              <a:rPr sz="1800" b="1">
                <a:solidFill>
                  <a:srgbClr val="00D785"/>
                </a:solidFill>
                <a:latin typeface="Arial"/>
              </a:rPr>
              <a:t>Yes, in the 40-start strategy simulation.</a:t>
            </a:r>
          </a:p>
        </p:txBody>
      </p:sp>
      <p:sp>
        <p:nvSpPr>
          <p:cNvPr id="6" name="Replay label"/>
          <p:cNvSpPr txBox="1"/>
          <p:nvPr/>
        </p:nvSpPr>
        <p:spPr>
          <a:xfrm>
            <a:off x="6217920" y="1417320"/>
            <a:ext cx="5029200" cy="274320"/>
          </a:xfrm>
          <a:prstGeom prst="rect">
            <a:avLst/>
          </a:prstGeom>
          <a:noFill/>
        </p:spPr>
        <p:txBody>
          <a:bodyPr wrap="square" lIns="0" rIns="0" tIns="0" bIns="0" anchor="t">
            <a:spAutoFit/>
          </a:bodyPr>
          <a:lstStyle/>
          <a:p>
            <a:pPr algn="l">
              <a:lnSpc>
                <a:spcPct val="100000"/>
              </a:lnSpc>
              <a:spcBef>
                <a:spcPts val="0"/>
              </a:spcBef>
              <a:spcAft>
                <a:spcPts val="0"/>
              </a:spcAft>
            </a:pPr>
            <a:r>
              <a:rPr sz="1400" b="1">
                <a:solidFill>
                  <a:srgbClr val="8F9798"/>
                </a:solidFill>
                <a:latin typeface="Arial"/>
              </a:rPr>
              <a:t>REPLAY QUESTION</a:t>
            </a:r>
          </a:p>
        </p:txBody>
      </p:sp>
      <p:sp>
        <p:nvSpPr>
          <p:cNvPr id="7" name="Replay question"/>
          <p:cNvSpPr txBox="1"/>
          <p:nvPr/>
        </p:nvSpPr>
        <p:spPr>
          <a:xfrm>
            <a:off x="6217920" y="1874519"/>
            <a:ext cx="4937760" cy="1143000"/>
          </a:xfrm>
          <a:prstGeom prst="rect">
            <a:avLst/>
          </a:prstGeom>
          <a:noFill/>
        </p:spPr>
        <p:txBody>
          <a:bodyPr wrap="square" lIns="0" rIns="0" tIns="0" bIns="0" anchor="t">
            <a:spAutoFit/>
          </a:bodyPr>
          <a:lstStyle/>
          <a:p>
            <a:pPr algn="l">
              <a:lnSpc>
                <a:spcPct val="105000"/>
              </a:lnSpc>
              <a:spcBef>
                <a:spcPts val="0"/>
              </a:spcBef>
              <a:spcAft>
                <a:spcPts val="0"/>
              </a:spcAft>
            </a:pPr>
            <a:r>
              <a:rPr sz="3000" b="1">
                <a:solidFill>
                  <a:srgbClr val="F4EFE4"/>
                </a:solidFill>
                <a:latin typeface="Arial"/>
              </a:rPr>
              <a:t>Can the rule beat
the manager's actual buys?</a:t>
            </a:r>
          </a:p>
        </p:txBody>
      </p:sp>
      <p:sp>
        <p:nvSpPr>
          <p:cNvPr id="8" name="Replay answer"/>
          <p:cNvSpPr txBox="1"/>
          <p:nvPr/>
        </p:nvSpPr>
        <p:spPr>
          <a:xfrm>
            <a:off x="6217920" y="3310128"/>
            <a:ext cx="4937760" cy="457200"/>
          </a:xfrm>
          <a:prstGeom prst="rect">
            <a:avLst/>
          </a:prstGeom>
          <a:noFill/>
        </p:spPr>
        <p:txBody>
          <a:bodyPr wrap="square" lIns="0" rIns="0" tIns="0" bIns="0" anchor="t">
            <a:spAutoFit/>
          </a:bodyPr>
          <a:lstStyle/>
          <a:p>
            <a:pPr algn="l">
              <a:lnSpc>
                <a:spcPct val="100000"/>
              </a:lnSpc>
              <a:spcBef>
                <a:spcPts val="0"/>
              </a:spcBef>
              <a:spcAft>
                <a:spcPts val="0"/>
              </a:spcAft>
            </a:pPr>
            <a:r>
              <a:rPr sz="1800" b="1">
                <a:solidFill>
                  <a:srgbClr val="00D785"/>
                </a:solidFill>
                <a:latin typeface="Arial"/>
              </a:rPr>
              <a:t>No, on the 45 scored transfer windows.</a:t>
            </a:r>
          </a:p>
        </p:txBody>
      </p:sp>
      <p:sp>
        <p:nvSpPr>
          <p:cNvPr id="9" name="Conclusion"/>
          <p:cNvSpPr txBox="1"/>
          <p:nvPr/>
        </p:nvSpPr>
        <p:spPr>
          <a:xfrm>
            <a:off x="914400" y="4983480"/>
            <a:ext cx="10360152" cy="548640"/>
          </a:xfrm>
          <a:prstGeom prst="rect">
            <a:avLst/>
          </a:prstGeom>
          <a:noFill/>
        </p:spPr>
        <p:txBody>
          <a:bodyPr wrap="square" lIns="0" rIns="0" tIns="0" bIns="0" anchor="t">
            <a:spAutoFit/>
          </a:bodyPr>
          <a:lstStyle/>
          <a:p>
            <a:pPr algn="ctr">
              <a:lnSpc>
                <a:spcPct val="100000"/>
              </a:lnSpc>
              <a:spcBef>
                <a:spcPts val="0"/>
              </a:spcBef>
              <a:spcAft>
                <a:spcPts val="0"/>
              </a:spcAft>
            </a:pPr>
            <a:r>
              <a:rPr sz="2500" b="1">
                <a:solidFill>
                  <a:srgbClr val="F4EFE4"/>
                </a:solidFill>
                <a:latin typeface="Arial"/>
              </a:rPr>
              <a:t>Different opponents can produce different winners without contradiction.</a:t>
            </a:r>
          </a:p>
        </p:txBody>
      </p:sp>
      <p:sp>
        <p:nvSpPr>
          <p:cNvPr id="10" name="Metric guard footer"/>
          <p:cNvSpPr txBox="1"/>
          <p:nvPr/>
        </p:nvSpPr>
        <p:spPr>
          <a:xfrm>
            <a:off x="685800" y="6537960"/>
            <a:ext cx="10817352" cy="164592"/>
          </a:xfrm>
          <a:prstGeom prst="rect">
            <a:avLst/>
          </a:prstGeom>
          <a:noFill/>
        </p:spPr>
        <p:txBody>
          <a:bodyPr wrap="square" lIns="0" rIns="0" tIns="0" bIns="0" anchor="ctr">
            <a:spAutoFit/>
          </a:bodyPr>
          <a:lstStyle/>
          <a:p>
            <a:pPr algn="ctr">
              <a:lnSpc>
                <a:spcPct val="100000"/>
              </a:lnSpc>
              <a:spcBef>
                <a:spcPts val="0"/>
              </a:spcBef>
              <a:spcAft>
                <a:spcPts val="0"/>
              </a:spcAft>
            </a:pPr>
            <a:r>
              <a:rPr sz="1000" b="0">
                <a:solidFill>
                  <a:srgbClr val="8F9798"/>
                </a:solidFill>
                <a:latin typeface="Arial"/>
              </a:rPr>
              <a:t>159 and 197 use different metrics. Compare direction, never magnitude.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pic>
        <p:nvPicPr>
          <p:cNvPr id="2" name="Unified hierarchy chart" descr="chart_1_unified_hierarchy.png"/>
          <p:cNvPicPr>
            <a:picLocks noChangeAspect="1"/>
          </p:cNvPicPr>
          <p:nvPr/>
        </p:nvPicPr>
        <p:blipFill>
          <a:blip r:embed="rId2"/>
          <a:stretch>
            <a:fillRect/>
          </a:stretch>
        </p:blipFill>
        <p:spPr>
          <a:xfrm>
            <a:off x="320040" y="404621"/>
            <a:ext cx="11548872" cy="5774436"/>
          </a:xfrm>
          <a:prstGeom prst="rect">
            <a:avLst/>
          </a:prstGeom>
        </p:spPr>
      </p:pic>
      <p:sp>
        <p:nvSpPr>
          <p:cNvPr id="3" name="Metric guard footer"/>
          <p:cNvSpPr txBox="1"/>
          <p:nvPr/>
        </p:nvSpPr>
        <p:spPr>
          <a:xfrm>
            <a:off x="685800" y="6537960"/>
            <a:ext cx="10817352" cy="164592"/>
          </a:xfrm>
          <a:prstGeom prst="rect">
            <a:avLst/>
          </a:prstGeom>
          <a:noFill/>
        </p:spPr>
        <p:txBody>
          <a:bodyPr wrap="square" lIns="0" rIns="0" tIns="0" bIns="0" anchor="ctr">
            <a:spAutoFit/>
          </a:bodyPr>
          <a:lstStyle/>
          <a:p>
            <a:pPr algn="ctr">
              <a:lnSpc>
                <a:spcPct val="100000"/>
              </a:lnSpc>
              <a:spcBef>
                <a:spcPts val="0"/>
              </a:spcBef>
              <a:spcAft>
                <a:spcPts val="0"/>
              </a:spcAft>
            </a:pPr>
            <a:r>
              <a:rPr sz="1000" b="0">
                <a:solidFill>
                  <a:srgbClr val="8F9798"/>
                </a:solidFill>
                <a:latin typeface="Arial"/>
              </a:rPr>
              <a:t>159 and 197 use different metrics. Compare direction, never magnitude.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pic>
        <p:nvPicPr>
          <p:cNvPr id="2" name="Different opponents chart" descr="chart_2_different_opponents.png"/>
          <p:cNvPicPr>
            <a:picLocks noChangeAspect="1"/>
          </p:cNvPicPr>
          <p:nvPr/>
        </p:nvPicPr>
        <p:blipFill>
          <a:blip r:embed="rId2"/>
          <a:stretch>
            <a:fillRect/>
          </a:stretch>
        </p:blipFill>
        <p:spPr>
          <a:xfrm>
            <a:off x="320040" y="404621"/>
            <a:ext cx="11548872" cy="5774436"/>
          </a:xfrm>
          <a:prstGeom prst="rect">
            <a:avLst/>
          </a:prstGeom>
        </p:spPr>
      </p:pic>
      <p:sp>
        <p:nvSpPr>
          <p:cNvPr id="3" name="Metric guard footer"/>
          <p:cNvSpPr txBox="1"/>
          <p:nvPr/>
        </p:nvSpPr>
        <p:spPr>
          <a:xfrm>
            <a:off x="685800" y="6537960"/>
            <a:ext cx="10817352" cy="164592"/>
          </a:xfrm>
          <a:prstGeom prst="rect">
            <a:avLst/>
          </a:prstGeom>
          <a:noFill/>
        </p:spPr>
        <p:txBody>
          <a:bodyPr wrap="square" lIns="0" rIns="0" tIns="0" bIns="0" anchor="ctr">
            <a:spAutoFit/>
          </a:bodyPr>
          <a:lstStyle/>
          <a:p>
            <a:pPr algn="ctr">
              <a:lnSpc>
                <a:spcPct val="100000"/>
              </a:lnSpc>
              <a:spcBef>
                <a:spcPts val="0"/>
              </a:spcBef>
              <a:spcAft>
                <a:spcPts val="0"/>
              </a:spcAft>
            </a:pPr>
            <a:r>
              <a:rPr sz="1000" b="0">
                <a:solidFill>
                  <a:srgbClr val="8F9798"/>
                </a:solidFill>
                <a:latin typeface="Arial"/>
              </a:rPr>
              <a:t>159 and 197 use different metrics. Compare direction, never magnitude.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pic>
        <p:nvPicPr>
          <p:cNvPr id="2" name="Mechanism agreement chart" descr="chart_3_agreement.png"/>
          <p:cNvPicPr>
            <a:picLocks noChangeAspect="1"/>
          </p:cNvPicPr>
          <p:nvPr/>
        </p:nvPicPr>
        <p:blipFill>
          <a:blip r:embed="rId2"/>
          <a:stretch>
            <a:fillRect/>
          </a:stretch>
        </p:blipFill>
        <p:spPr>
          <a:xfrm>
            <a:off x="320040" y="404621"/>
            <a:ext cx="11548872" cy="5774436"/>
          </a:xfrm>
          <a:prstGeom prst="rect">
            <a:avLst/>
          </a:prstGeom>
        </p:spPr>
      </p:pic>
      <p:sp>
        <p:nvSpPr>
          <p:cNvPr id="3" name="Metric guard footer"/>
          <p:cNvSpPr txBox="1"/>
          <p:nvPr/>
        </p:nvSpPr>
        <p:spPr>
          <a:xfrm>
            <a:off x="685800" y="6537960"/>
            <a:ext cx="10817352" cy="164592"/>
          </a:xfrm>
          <a:prstGeom prst="rect">
            <a:avLst/>
          </a:prstGeom>
          <a:noFill/>
        </p:spPr>
        <p:txBody>
          <a:bodyPr wrap="square" lIns="0" rIns="0" tIns="0" bIns="0" anchor="ctr">
            <a:spAutoFit/>
          </a:bodyPr>
          <a:lstStyle/>
          <a:p>
            <a:pPr algn="ctr">
              <a:lnSpc>
                <a:spcPct val="100000"/>
              </a:lnSpc>
              <a:spcBef>
                <a:spcPts val="0"/>
              </a:spcBef>
              <a:spcAft>
                <a:spcPts val="0"/>
              </a:spcAft>
            </a:pPr>
            <a:r>
              <a:rPr sz="1000" b="0">
                <a:solidFill>
                  <a:srgbClr val="8F9798"/>
                </a:solidFill>
                <a:latin typeface="Arial"/>
              </a:rPr>
              <a:t>159 and 197 use different metrics. Compare direction, never magnitude.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475488"/>
            <a:ext cx="10817352" cy="502920"/>
          </a:xfrm>
          <a:prstGeom prst="rect">
            <a:avLst/>
          </a:prstGeom>
          <a:noFill/>
        </p:spPr>
        <p:txBody>
          <a:bodyPr wrap="square" lIns="0" rIns="0" tIns="0" bIns="0" anchor="t">
            <a:spAutoFit/>
          </a:bodyPr>
          <a:lstStyle/>
          <a:p>
            <a:pPr algn="l">
              <a:lnSpc>
                <a:spcPct val="100000"/>
              </a:lnSpc>
              <a:spcBef>
                <a:spcPts val="0"/>
              </a:spcBef>
              <a:spcAft>
                <a:spcPts val="0"/>
              </a:spcAft>
            </a:pPr>
            <a:r>
              <a:rPr sz="3800" b="1">
                <a:solidFill>
                  <a:srgbClr val="F4EFE4"/>
                </a:solidFill>
                <a:latin typeface="Arial"/>
              </a:rPr>
              <a:t>The rule is a floor, not a ceiling</a:t>
            </a:r>
          </a:p>
        </p:txBody>
      </p:sp>
      <p:sp>
        <p:nvSpPr>
          <p:cNvPr id="3" name="Hierarchy"/>
          <p:cNvSpPr txBox="1"/>
          <p:nvPr/>
        </p:nvSpPr>
        <p:spPr>
          <a:xfrm>
            <a:off x="731520" y="1572768"/>
            <a:ext cx="10725912" cy="594360"/>
          </a:xfrm>
          <a:prstGeom prst="rect">
            <a:avLst/>
          </a:prstGeom>
          <a:noFill/>
        </p:spPr>
        <p:txBody>
          <a:bodyPr wrap="square" lIns="0" rIns="0" tIns="0" bIns="0" anchor="t">
            <a:spAutoFit/>
          </a:bodyPr>
          <a:lstStyle/>
          <a:p>
            <a:pPr algn="ctr">
              <a:lnSpc>
                <a:spcPct val="100000"/>
              </a:lnSpc>
              <a:spcBef>
                <a:spcPts val="0"/>
              </a:spcBef>
              <a:spcAft>
                <a:spcPts val="0"/>
              </a:spcAft>
            </a:pPr>
            <a:r>
              <a:rPr sz="2900" b="1">
                <a:solidFill>
                  <a:srgbClr val="F4EFE4"/>
                </a:solidFill>
                <a:latin typeface="Arial"/>
              </a:rPr>
              <a:t>SKILLED HUMAN  &gt;  SIMPLE RULE  ~  MODEL  &gt;  NOTHING</a:t>
            </a:r>
          </a:p>
        </p:txBody>
      </p:sp>
      <p:sp>
        <p:nvSpPr>
          <p:cNvPr id="4" name="Floor label"/>
          <p:cNvSpPr txBox="1"/>
          <p:nvPr/>
        </p:nvSpPr>
        <p:spPr>
          <a:xfrm>
            <a:off x="960120" y="2743200"/>
            <a:ext cx="4297680" cy="411480"/>
          </a:xfrm>
          <a:prstGeom prst="rect">
            <a:avLst/>
          </a:prstGeom>
          <a:noFill/>
        </p:spPr>
        <p:txBody>
          <a:bodyPr wrap="square" lIns="0" rIns="0" tIns="0" bIns="0" anchor="t">
            <a:spAutoFit/>
          </a:bodyPr>
          <a:lstStyle/>
          <a:p>
            <a:pPr algn="l">
              <a:lnSpc>
                <a:spcPct val="100000"/>
              </a:lnSpc>
              <a:spcBef>
                <a:spcPts val="0"/>
              </a:spcBef>
              <a:spcAft>
                <a:spcPts val="0"/>
              </a:spcAft>
            </a:pPr>
            <a:r>
              <a:rPr sz="1800" b="1">
                <a:solidFill>
                  <a:srgbClr val="8F9798"/>
                </a:solidFill>
                <a:latin typeface="Arial"/>
              </a:rPr>
              <a:t>FLOOR</a:t>
            </a:r>
          </a:p>
        </p:txBody>
      </p:sp>
      <p:sp>
        <p:nvSpPr>
          <p:cNvPr id="5" name="Floor headline"/>
          <p:cNvSpPr txBox="1"/>
          <p:nvPr/>
        </p:nvSpPr>
        <p:spPr>
          <a:xfrm>
            <a:off x="960120" y="3246120"/>
            <a:ext cx="4480560" cy="548640"/>
          </a:xfrm>
          <a:prstGeom prst="rect">
            <a:avLst/>
          </a:prstGeom>
          <a:noFill/>
        </p:spPr>
        <p:txBody>
          <a:bodyPr wrap="square" lIns="0" rIns="0" tIns="0" bIns="0" anchor="t">
            <a:spAutoFit/>
          </a:bodyPr>
          <a:lstStyle/>
          <a:p>
            <a:pPr algn="l">
              <a:lnSpc>
                <a:spcPct val="100000"/>
              </a:lnSpc>
              <a:spcBef>
                <a:spcPts val="0"/>
              </a:spcBef>
              <a:spcAft>
                <a:spcPts val="0"/>
              </a:spcAft>
            </a:pPr>
            <a:r>
              <a:rPr sz="3000" b="1">
                <a:solidFill>
                  <a:srgbClr val="00D785"/>
                </a:solidFill>
                <a:latin typeface="Arial"/>
              </a:rPr>
              <a:t>Rule beats passivity</a:t>
            </a:r>
          </a:p>
        </p:txBody>
      </p:sp>
      <p:sp>
        <p:nvSpPr>
          <p:cNvPr id="6" name="Floor detail"/>
          <p:cNvSpPr txBox="1"/>
          <p:nvPr/>
        </p:nvSpPr>
        <p:spPr>
          <a:xfrm>
            <a:off x="960120" y="3977639"/>
            <a:ext cx="4480560" cy="365760"/>
          </a:xfrm>
          <a:prstGeom prst="rect">
            <a:avLst/>
          </a:prstGeom>
          <a:noFill/>
        </p:spPr>
        <p:txBody>
          <a:bodyPr wrap="square" lIns="0" rIns="0" tIns="0" bIns="0" anchor="t">
            <a:spAutoFit/>
          </a:bodyPr>
          <a:lstStyle/>
          <a:p>
            <a:pPr algn="l">
              <a:lnSpc>
                <a:spcPct val="100000"/>
              </a:lnSpc>
              <a:spcBef>
                <a:spcPts val="0"/>
              </a:spcBef>
              <a:spcAft>
                <a:spcPts val="0"/>
              </a:spcAft>
            </a:pPr>
            <a:r>
              <a:rPr sz="1800" b="0">
                <a:solidFill>
                  <a:srgbClr val="8F9798"/>
                </a:solidFill>
                <a:latin typeface="Arial"/>
              </a:rPr>
              <a:t>Cheap, clear, repeatable</a:t>
            </a:r>
          </a:p>
        </p:txBody>
      </p:sp>
      <p:sp>
        <p:nvSpPr>
          <p:cNvPr id="7" name="Ceiling label"/>
          <p:cNvSpPr txBox="1"/>
          <p:nvPr/>
        </p:nvSpPr>
        <p:spPr>
          <a:xfrm>
            <a:off x="6720840" y="2743200"/>
            <a:ext cx="4297680" cy="411480"/>
          </a:xfrm>
          <a:prstGeom prst="rect">
            <a:avLst/>
          </a:prstGeom>
          <a:noFill/>
        </p:spPr>
        <p:txBody>
          <a:bodyPr wrap="square" lIns="0" rIns="0" tIns="0" bIns="0" anchor="t">
            <a:spAutoFit/>
          </a:bodyPr>
          <a:lstStyle/>
          <a:p>
            <a:pPr algn="l">
              <a:lnSpc>
                <a:spcPct val="100000"/>
              </a:lnSpc>
              <a:spcBef>
                <a:spcPts val="0"/>
              </a:spcBef>
              <a:spcAft>
                <a:spcPts val="0"/>
              </a:spcAft>
            </a:pPr>
            <a:r>
              <a:rPr sz="1800" b="1">
                <a:solidFill>
                  <a:srgbClr val="8F9798"/>
                </a:solidFill>
                <a:latin typeface="Arial"/>
              </a:rPr>
              <a:t>CEILING</a:t>
            </a:r>
          </a:p>
        </p:txBody>
      </p:sp>
      <p:sp>
        <p:nvSpPr>
          <p:cNvPr id="8" name="Ceiling headline"/>
          <p:cNvSpPr txBox="1"/>
          <p:nvPr/>
        </p:nvSpPr>
        <p:spPr>
          <a:xfrm>
            <a:off x="6720840" y="3246120"/>
            <a:ext cx="4480560" cy="548640"/>
          </a:xfrm>
          <a:prstGeom prst="rect">
            <a:avLst/>
          </a:prstGeom>
          <a:noFill/>
        </p:spPr>
        <p:txBody>
          <a:bodyPr wrap="square" lIns="0" rIns="0" tIns="0" bIns="0" anchor="t">
            <a:spAutoFit/>
          </a:bodyPr>
          <a:lstStyle/>
          <a:p>
            <a:pPr algn="l">
              <a:lnSpc>
                <a:spcPct val="100000"/>
              </a:lnSpc>
              <a:spcBef>
                <a:spcPts val="0"/>
              </a:spcBef>
              <a:spcAft>
                <a:spcPts val="0"/>
              </a:spcAft>
            </a:pPr>
            <a:r>
              <a:rPr sz="3000" b="1">
                <a:solidFill>
                  <a:srgbClr val="F4EFE4"/>
                </a:solidFill>
                <a:latin typeface="Arial"/>
              </a:rPr>
              <a:t>Judgment finds upside</a:t>
            </a:r>
          </a:p>
        </p:txBody>
      </p:sp>
      <p:sp>
        <p:nvSpPr>
          <p:cNvPr id="9" name="Ceiling detail"/>
          <p:cNvSpPr txBox="1"/>
          <p:nvPr/>
        </p:nvSpPr>
        <p:spPr>
          <a:xfrm>
            <a:off x="6720840" y="3977639"/>
            <a:ext cx="4480560" cy="365760"/>
          </a:xfrm>
          <a:prstGeom prst="rect">
            <a:avLst/>
          </a:prstGeom>
          <a:noFill/>
        </p:spPr>
        <p:txBody>
          <a:bodyPr wrap="square" lIns="0" rIns="0" tIns="0" bIns="0" anchor="t">
            <a:spAutoFit/>
          </a:bodyPr>
          <a:lstStyle/>
          <a:p>
            <a:pPr algn="l">
              <a:lnSpc>
                <a:spcPct val="100000"/>
              </a:lnSpc>
              <a:spcBef>
                <a:spcPts val="0"/>
              </a:spcBef>
              <a:spcAft>
                <a:spcPts val="0"/>
              </a:spcAft>
            </a:pPr>
            <a:r>
              <a:rPr sz="1800" b="0">
                <a:solidFill>
                  <a:srgbClr val="8F9798"/>
                </a:solidFill>
                <a:latin typeface="Arial"/>
              </a:rPr>
              <a:t>Role changes, news, packages</a:t>
            </a:r>
          </a:p>
        </p:txBody>
      </p:sp>
      <p:sp>
        <p:nvSpPr>
          <p:cNvPr id="10" name="Action line"/>
          <p:cNvSpPr txBox="1"/>
          <p:nvPr/>
        </p:nvSpPr>
        <p:spPr>
          <a:xfrm>
            <a:off x="731520" y="5230368"/>
            <a:ext cx="10725912" cy="438912"/>
          </a:xfrm>
          <a:prstGeom prst="rect">
            <a:avLst/>
          </a:prstGeom>
          <a:noFill/>
        </p:spPr>
        <p:txBody>
          <a:bodyPr wrap="square" lIns="0" rIns="0" tIns="0" bIns="0" anchor="t">
            <a:spAutoFit/>
          </a:bodyPr>
          <a:lstStyle/>
          <a:p>
            <a:pPr algn="ctr">
              <a:lnSpc>
                <a:spcPct val="100000"/>
              </a:lnSpc>
              <a:spcBef>
                <a:spcPts val="0"/>
              </a:spcBef>
              <a:spcAft>
                <a:spcPts val="0"/>
              </a:spcAft>
            </a:pPr>
            <a:r>
              <a:rPr sz="2200" b="1">
                <a:solidFill>
                  <a:srgbClr val="F4EFE4"/>
                </a:solidFill>
                <a:latin typeface="Arial"/>
              </a:rPr>
              <a:t>Use the rule to narrow the field. Use judgment to make the call.</a:t>
            </a:r>
          </a:p>
        </p:txBody>
      </p:sp>
      <p:sp>
        <p:nvSpPr>
          <p:cNvPr id="11" name="Metric guard footer"/>
          <p:cNvSpPr txBox="1"/>
          <p:nvPr/>
        </p:nvSpPr>
        <p:spPr>
          <a:xfrm>
            <a:off x="685800" y="6537960"/>
            <a:ext cx="10817352" cy="164592"/>
          </a:xfrm>
          <a:prstGeom prst="rect">
            <a:avLst/>
          </a:prstGeom>
          <a:noFill/>
        </p:spPr>
        <p:txBody>
          <a:bodyPr wrap="square" lIns="0" rIns="0" tIns="0" bIns="0" anchor="ctr">
            <a:spAutoFit/>
          </a:bodyPr>
          <a:lstStyle/>
          <a:p>
            <a:pPr algn="ctr">
              <a:lnSpc>
                <a:spcPct val="100000"/>
              </a:lnSpc>
              <a:spcBef>
                <a:spcPts val="0"/>
              </a:spcBef>
              <a:spcAft>
                <a:spcPts val="0"/>
              </a:spcAft>
            </a:pPr>
            <a:r>
              <a:rPr sz="1000" b="0">
                <a:solidFill>
                  <a:srgbClr val="8F9798"/>
                </a:solidFill>
                <a:latin typeface="Arial"/>
              </a:rPr>
              <a:t>159 and 197 use different metrics. Compare direction, never magnitude.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475488"/>
            <a:ext cx="10817352" cy="502920"/>
          </a:xfrm>
          <a:prstGeom prst="rect">
            <a:avLst/>
          </a:prstGeom>
          <a:noFill/>
        </p:spPr>
        <p:txBody>
          <a:bodyPr wrap="square" lIns="0" rIns="0" tIns="0" bIns="0" anchor="t">
            <a:spAutoFit/>
          </a:bodyPr>
          <a:lstStyle/>
          <a:p>
            <a:pPr algn="l">
              <a:lnSpc>
                <a:spcPct val="100000"/>
              </a:lnSpc>
              <a:spcBef>
                <a:spcPts val="0"/>
              </a:spcBef>
              <a:spcAft>
                <a:spcPts val="0"/>
              </a:spcAft>
            </a:pPr>
            <a:r>
              <a:rPr sz="3800" b="1">
                <a:solidFill>
                  <a:srgbClr val="F4EFE4"/>
                </a:solidFill>
                <a:latin typeface="Arial"/>
              </a:rPr>
              <a:t>Use the rule, then add judgment</a:t>
            </a:r>
          </a:p>
        </p:txBody>
      </p:sp>
      <p:sp>
        <p:nvSpPr>
          <p:cNvPr id="3" name="Action 1 number"/>
          <p:cNvSpPr txBox="1"/>
          <p:nvPr/>
        </p:nvSpPr>
        <p:spPr>
          <a:xfrm>
            <a:off x="777240" y="1353312"/>
            <a:ext cx="411480" cy="411480"/>
          </a:xfrm>
          <a:prstGeom prst="rect">
            <a:avLst/>
          </a:prstGeom>
          <a:noFill/>
        </p:spPr>
        <p:txBody>
          <a:bodyPr wrap="square" lIns="0" rIns="0" tIns="0" bIns="0" anchor="t">
            <a:spAutoFit/>
          </a:bodyPr>
          <a:lstStyle/>
          <a:p>
            <a:pPr algn="l">
              <a:lnSpc>
                <a:spcPct val="100000"/>
              </a:lnSpc>
              <a:spcBef>
                <a:spcPts val="0"/>
              </a:spcBef>
              <a:spcAft>
                <a:spcPts val="0"/>
              </a:spcAft>
            </a:pPr>
            <a:r>
              <a:rPr sz="2300" b="1">
                <a:solidFill>
                  <a:srgbClr val="00D785"/>
                </a:solidFill>
                <a:latin typeface="Arial"/>
              </a:rPr>
              <a:t>1</a:t>
            </a:r>
          </a:p>
        </p:txBody>
      </p:sp>
      <p:sp>
        <p:nvSpPr>
          <p:cNvPr id="4" name="Action 1 heading"/>
          <p:cNvSpPr txBox="1"/>
          <p:nvPr/>
        </p:nvSpPr>
        <p:spPr>
          <a:xfrm>
            <a:off x="1389888" y="1353312"/>
            <a:ext cx="3840480" cy="384048"/>
          </a:xfrm>
          <a:prstGeom prst="rect">
            <a:avLst/>
          </a:prstGeom>
          <a:noFill/>
        </p:spPr>
        <p:txBody>
          <a:bodyPr wrap="square" lIns="0" rIns="0" tIns="0" bIns="0" anchor="t">
            <a:spAutoFit/>
          </a:bodyPr>
          <a:lstStyle/>
          <a:p>
            <a:pPr algn="l">
              <a:lnSpc>
                <a:spcPct val="100000"/>
              </a:lnSpc>
              <a:spcBef>
                <a:spcPts val="0"/>
              </a:spcBef>
              <a:spcAft>
                <a:spcPts val="0"/>
              </a:spcAft>
            </a:pPr>
            <a:r>
              <a:rPr sz="2400" b="1">
                <a:solidFill>
                  <a:srgbClr val="F4EFE4"/>
                </a:solidFill>
                <a:latin typeface="Arial"/>
              </a:rPr>
              <a:t>Filter availability</a:t>
            </a:r>
          </a:p>
        </p:txBody>
      </p:sp>
      <p:sp>
        <p:nvSpPr>
          <p:cNvPr id="5" name="Action 1 detail"/>
          <p:cNvSpPr txBox="1"/>
          <p:nvPr/>
        </p:nvSpPr>
        <p:spPr>
          <a:xfrm>
            <a:off x="5349240" y="1371600"/>
            <a:ext cx="5669280" cy="384048"/>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8F9798"/>
                </a:solidFill>
                <a:latin typeface="Arial"/>
              </a:rPr>
              <a:t>Starts, recent minutes, injury news, likely role</a:t>
            </a:r>
          </a:p>
        </p:txBody>
      </p:sp>
      <p:sp>
        <p:nvSpPr>
          <p:cNvPr id="6" name="Action 2 number"/>
          <p:cNvSpPr txBox="1"/>
          <p:nvPr/>
        </p:nvSpPr>
        <p:spPr>
          <a:xfrm>
            <a:off x="777240" y="2432304"/>
            <a:ext cx="411480" cy="411480"/>
          </a:xfrm>
          <a:prstGeom prst="rect">
            <a:avLst/>
          </a:prstGeom>
          <a:noFill/>
        </p:spPr>
        <p:txBody>
          <a:bodyPr wrap="square" lIns="0" rIns="0" tIns="0" bIns="0" anchor="t">
            <a:spAutoFit/>
          </a:bodyPr>
          <a:lstStyle/>
          <a:p>
            <a:pPr algn="l">
              <a:lnSpc>
                <a:spcPct val="100000"/>
              </a:lnSpc>
              <a:spcBef>
                <a:spcPts val="0"/>
              </a:spcBef>
              <a:spcAft>
                <a:spcPts val="0"/>
              </a:spcAft>
            </a:pPr>
            <a:r>
              <a:rPr sz="2300" b="1">
                <a:solidFill>
                  <a:srgbClr val="00D785"/>
                </a:solidFill>
                <a:latin typeface="Arial"/>
              </a:rPr>
              <a:t>2</a:t>
            </a:r>
          </a:p>
        </p:txBody>
      </p:sp>
      <p:sp>
        <p:nvSpPr>
          <p:cNvPr id="7" name="Action 2 heading"/>
          <p:cNvSpPr txBox="1"/>
          <p:nvPr/>
        </p:nvSpPr>
        <p:spPr>
          <a:xfrm>
            <a:off x="1389888" y="2432304"/>
            <a:ext cx="3840480" cy="384048"/>
          </a:xfrm>
          <a:prstGeom prst="rect">
            <a:avLst/>
          </a:prstGeom>
          <a:noFill/>
        </p:spPr>
        <p:txBody>
          <a:bodyPr wrap="square" lIns="0" rIns="0" tIns="0" bIns="0" anchor="t">
            <a:spAutoFit/>
          </a:bodyPr>
          <a:lstStyle/>
          <a:p>
            <a:pPr algn="l">
              <a:lnSpc>
                <a:spcPct val="100000"/>
              </a:lnSpc>
              <a:spcBef>
                <a:spcPts val="0"/>
              </a:spcBef>
              <a:spcAft>
                <a:spcPts val="0"/>
              </a:spcAft>
            </a:pPr>
            <a:r>
              <a:rPr sz="2400" b="1">
                <a:solidFill>
                  <a:srgbClr val="F4EFE4"/>
                </a:solidFill>
                <a:latin typeface="Arial"/>
              </a:rPr>
              <a:t>Build the shortlist</a:t>
            </a:r>
          </a:p>
        </p:txBody>
      </p:sp>
      <p:sp>
        <p:nvSpPr>
          <p:cNvPr id="8" name="Action 2 detail"/>
          <p:cNvSpPr txBox="1"/>
          <p:nvPr/>
        </p:nvSpPr>
        <p:spPr>
          <a:xfrm>
            <a:off x="5349240" y="2450592"/>
            <a:ext cx="5669280" cy="384048"/>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8F9798"/>
                </a:solidFill>
                <a:latin typeface="Arial"/>
              </a:rPr>
              <a:t>Recent points as context, plus xGI, fixtures, price</a:t>
            </a:r>
          </a:p>
        </p:txBody>
      </p:sp>
      <p:sp>
        <p:nvSpPr>
          <p:cNvPr id="9" name="Action 3 number"/>
          <p:cNvSpPr txBox="1"/>
          <p:nvPr/>
        </p:nvSpPr>
        <p:spPr>
          <a:xfrm>
            <a:off x="777240" y="3511296"/>
            <a:ext cx="411480" cy="411480"/>
          </a:xfrm>
          <a:prstGeom prst="rect">
            <a:avLst/>
          </a:prstGeom>
          <a:noFill/>
        </p:spPr>
        <p:txBody>
          <a:bodyPr wrap="square" lIns="0" rIns="0" tIns="0" bIns="0" anchor="t">
            <a:spAutoFit/>
          </a:bodyPr>
          <a:lstStyle/>
          <a:p>
            <a:pPr algn="l">
              <a:lnSpc>
                <a:spcPct val="100000"/>
              </a:lnSpc>
              <a:spcBef>
                <a:spcPts val="0"/>
              </a:spcBef>
              <a:spcAft>
                <a:spcPts val="0"/>
              </a:spcAft>
            </a:pPr>
            <a:r>
              <a:rPr sz="2300" b="1">
                <a:solidFill>
                  <a:srgbClr val="00D785"/>
                </a:solidFill>
                <a:latin typeface="Arial"/>
              </a:rPr>
              <a:t>3</a:t>
            </a:r>
          </a:p>
        </p:txBody>
      </p:sp>
      <p:sp>
        <p:nvSpPr>
          <p:cNvPr id="10" name="Action 3 heading"/>
          <p:cNvSpPr txBox="1"/>
          <p:nvPr/>
        </p:nvSpPr>
        <p:spPr>
          <a:xfrm>
            <a:off x="1389888" y="3511296"/>
            <a:ext cx="3840480" cy="384048"/>
          </a:xfrm>
          <a:prstGeom prst="rect">
            <a:avLst/>
          </a:prstGeom>
          <a:noFill/>
        </p:spPr>
        <p:txBody>
          <a:bodyPr wrap="square" lIns="0" rIns="0" tIns="0" bIns="0" anchor="t">
            <a:spAutoFit/>
          </a:bodyPr>
          <a:lstStyle/>
          <a:p>
            <a:pPr algn="l">
              <a:lnSpc>
                <a:spcPct val="100000"/>
              </a:lnSpc>
              <a:spcBef>
                <a:spcPts val="0"/>
              </a:spcBef>
              <a:spcAft>
                <a:spcPts val="0"/>
              </a:spcAft>
            </a:pPr>
            <a:r>
              <a:rPr sz="2400" b="1">
                <a:solidFill>
                  <a:srgbClr val="F4EFE4"/>
                </a:solidFill>
                <a:latin typeface="Arial"/>
              </a:rPr>
              <a:t>Review the package</a:t>
            </a:r>
          </a:p>
        </p:txBody>
      </p:sp>
      <p:sp>
        <p:nvSpPr>
          <p:cNvPr id="11" name="Action 3 detail"/>
          <p:cNvSpPr txBox="1"/>
          <p:nvPr/>
        </p:nvSpPr>
        <p:spPr>
          <a:xfrm>
            <a:off x="5349240" y="3529584"/>
            <a:ext cx="5669280" cy="384048"/>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8F9798"/>
                </a:solidFill>
                <a:latin typeface="Arial"/>
              </a:rPr>
              <a:t>Bank, cash released, hits, squad structure</a:t>
            </a:r>
          </a:p>
        </p:txBody>
      </p:sp>
      <p:sp>
        <p:nvSpPr>
          <p:cNvPr id="12" name="Action 4 number"/>
          <p:cNvSpPr txBox="1"/>
          <p:nvPr/>
        </p:nvSpPr>
        <p:spPr>
          <a:xfrm>
            <a:off x="777240" y="4590288"/>
            <a:ext cx="411480" cy="411480"/>
          </a:xfrm>
          <a:prstGeom prst="rect">
            <a:avLst/>
          </a:prstGeom>
          <a:noFill/>
        </p:spPr>
        <p:txBody>
          <a:bodyPr wrap="square" lIns="0" rIns="0" tIns="0" bIns="0" anchor="t">
            <a:spAutoFit/>
          </a:bodyPr>
          <a:lstStyle/>
          <a:p>
            <a:pPr algn="l">
              <a:lnSpc>
                <a:spcPct val="100000"/>
              </a:lnSpc>
              <a:spcBef>
                <a:spcPts val="0"/>
              </a:spcBef>
              <a:spcAft>
                <a:spcPts val="0"/>
              </a:spcAft>
            </a:pPr>
            <a:r>
              <a:rPr sz="2300" b="1">
                <a:solidFill>
                  <a:srgbClr val="00D785"/>
                </a:solidFill>
                <a:latin typeface="Arial"/>
              </a:rPr>
              <a:t>4</a:t>
            </a:r>
          </a:p>
        </p:txBody>
      </p:sp>
      <p:sp>
        <p:nvSpPr>
          <p:cNvPr id="13" name="Action 4 heading"/>
          <p:cNvSpPr txBox="1"/>
          <p:nvPr/>
        </p:nvSpPr>
        <p:spPr>
          <a:xfrm>
            <a:off x="1389888" y="4590288"/>
            <a:ext cx="3840480" cy="384048"/>
          </a:xfrm>
          <a:prstGeom prst="rect">
            <a:avLst/>
          </a:prstGeom>
          <a:noFill/>
        </p:spPr>
        <p:txBody>
          <a:bodyPr wrap="square" lIns="0" rIns="0" tIns="0" bIns="0" anchor="t">
            <a:spAutoFit/>
          </a:bodyPr>
          <a:lstStyle/>
          <a:p>
            <a:pPr algn="l">
              <a:lnSpc>
                <a:spcPct val="100000"/>
              </a:lnSpc>
              <a:spcBef>
                <a:spcPts val="0"/>
              </a:spcBef>
              <a:spcAft>
                <a:spcPts val="0"/>
              </a:spcAft>
            </a:pPr>
            <a:r>
              <a:rPr sz="2400" b="1">
                <a:solidFill>
                  <a:srgbClr val="F4EFE4"/>
                </a:solidFill>
                <a:latin typeface="Arial"/>
              </a:rPr>
              <a:t>Make the upside call</a:t>
            </a:r>
          </a:p>
        </p:txBody>
      </p:sp>
      <p:sp>
        <p:nvSpPr>
          <p:cNvPr id="14" name="Action 4 detail"/>
          <p:cNvSpPr txBox="1"/>
          <p:nvPr/>
        </p:nvSpPr>
        <p:spPr>
          <a:xfrm>
            <a:off x="5349240" y="4608575"/>
            <a:ext cx="5669280" cy="384048"/>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8F9798"/>
                </a:solidFill>
                <a:latin typeface="Arial"/>
              </a:rPr>
              <a:t>Role change, captain ceiling, reasons to break the rule</a:t>
            </a:r>
          </a:p>
        </p:txBody>
      </p:sp>
      <p:sp>
        <p:nvSpPr>
          <p:cNvPr id="15" name="Guardrail"/>
          <p:cNvSpPr txBox="1"/>
          <p:nvPr/>
        </p:nvSpPr>
        <p:spPr>
          <a:xfrm>
            <a:off x="777240" y="5806440"/>
            <a:ext cx="10652760" cy="365760"/>
          </a:xfrm>
          <a:prstGeom prst="rect">
            <a:avLst/>
          </a:prstGeom>
          <a:noFill/>
        </p:spPr>
        <p:txBody>
          <a:bodyPr wrap="square" lIns="0" rIns="0" tIns="0" bIns="0" anchor="t">
            <a:spAutoFit/>
          </a:bodyPr>
          <a:lstStyle/>
          <a:p>
            <a:pPr algn="ctr">
              <a:lnSpc>
                <a:spcPct val="100000"/>
              </a:lnSpc>
              <a:spcBef>
                <a:spcPts val="0"/>
              </a:spcBef>
              <a:spcAft>
                <a:spcPts val="0"/>
              </a:spcAft>
            </a:pPr>
            <a:r>
              <a:rPr sz="2000" b="1">
                <a:solidFill>
                  <a:srgbClr val="00D785"/>
                </a:solidFill>
                <a:latin typeface="Arial"/>
              </a:rPr>
              <a:t>Only promote a new model when it beats this rule on decision points.</a:t>
            </a:r>
          </a:p>
        </p:txBody>
      </p:sp>
      <p:sp>
        <p:nvSpPr>
          <p:cNvPr id="16" name="Metric guard footer"/>
          <p:cNvSpPr txBox="1"/>
          <p:nvPr/>
        </p:nvSpPr>
        <p:spPr>
          <a:xfrm>
            <a:off x="685800" y="6537960"/>
            <a:ext cx="10817352" cy="164592"/>
          </a:xfrm>
          <a:prstGeom prst="rect">
            <a:avLst/>
          </a:prstGeom>
          <a:noFill/>
        </p:spPr>
        <p:txBody>
          <a:bodyPr wrap="square" lIns="0" rIns="0" tIns="0" bIns="0" anchor="ctr">
            <a:spAutoFit/>
          </a:bodyPr>
          <a:lstStyle/>
          <a:p>
            <a:pPr algn="ctr">
              <a:lnSpc>
                <a:spcPct val="100000"/>
              </a:lnSpc>
              <a:spcBef>
                <a:spcPts val="0"/>
              </a:spcBef>
              <a:spcAft>
                <a:spcPts val="0"/>
              </a:spcAft>
            </a:pPr>
            <a:r>
              <a:rPr sz="1000" b="0">
                <a:solidFill>
                  <a:srgbClr val="8F9798"/>
                </a:solidFill>
                <a:latin typeface="Arial"/>
              </a:rPr>
              <a:t>159 and 197 use different metrics. Compare direction, never magnitude.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475488"/>
            <a:ext cx="10817352" cy="502920"/>
          </a:xfrm>
          <a:prstGeom prst="rect">
            <a:avLst/>
          </a:prstGeom>
          <a:noFill/>
        </p:spPr>
        <p:txBody>
          <a:bodyPr wrap="square" lIns="0" rIns="0" tIns="0" bIns="0" anchor="t">
            <a:spAutoFit/>
          </a:bodyPr>
          <a:lstStyle/>
          <a:p>
            <a:pPr algn="l">
              <a:lnSpc>
                <a:spcPct val="100000"/>
              </a:lnSpc>
              <a:spcBef>
                <a:spcPts val="0"/>
              </a:spcBef>
              <a:spcAft>
                <a:spcPts val="0"/>
              </a:spcAft>
            </a:pPr>
            <a:r>
              <a:rPr sz="3800" b="1">
                <a:solidFill>
                  <a:srgbClr val="00D785"/>
                </a:solidFill>
                <a:latin typeface="Arial"/>
              </a:rPr>
              <a:t>Keep the two currencies apart</a:t>
            </a:r>
          </a:p>
        </p:txBody>
      </p:sp>
      <p:sp>
        <p:nvSpPr>
          <p:cNvPr id="3" name="Simulation stat"/>
          <p:cNvSpPr txBox="1"/>
          <p:nvPr/>
        </p:nvSpPr>
        <p:spPr>
          <a:xfrm>
            <a:off x="777240" y="1325880"/>
            <a:ext cx="1828800" cy="777240"/>
          </a:xfrm>
          <a:prstGeom prst="rect">
            <a:avLst/>
          </a:prstGeom>
          <a:noFill/>
        </p:spPr>
        <p:txBody>
          <a:bodyPr wrap="square" lIns="0" rIns="0" tIns="0" bIns="0" anchor="t">
            <a:spAutoFit/>
          </a:bodyPr>
          <a:lstStyle/>
          <a:p>
            <a:pPr algn="l">
              <a:lnSpc>
                <a:spcPct val="100000"/>
              </a:lnSpc>
              <a:spcBef>
                <a:spcPts val="0"/>
              </a:spcBef>
              <a:spcAft>
                <a:spcPts val="0"/>
              </a:spcAft>
            </a:pPr>
            <a:r>
              <a:rPr sz="5400" b="1">
                <a:solidFill>
                  <a:srgbClr val="F4EFE4"/>
                </a:solidFill>
                <a:latin typeface="Arial"/>
              </a:rPr>
              <a:t>159</a:t>
            </a:r>
          </a:p>
        </p:txBody>
      </p:sp>
      <p:sp>
        <p:nvSpPr>
          <p:cNvPr id="4" name="Simulation definition"/>
          <p:cNvSpPr txBox="1"/>
          <p:nvPr/>
        </p:nvSpPr>
        <p:spPr>
          <a:xfrm>
            <a:off x="2240280" y="1536192"/>
            <a:ext cx="3749039" cy="457200"/>
          </a:xfrm>
          <a:prstGeom prst="rect">
            <a:avLst/>
          </a:prstGeom>
          <a:noFill/>
        </p:spPr>
        <p:txBody>
          <a:bodyPr wrap="square" lIns="0" rIns="0" tIns="0" bIns="0" anchor="t">
            <a:spAutoFit/>
          </a:bodyPr>
          <a:lstStyle/>
          <a:p>
            <a:pPr algn="l">
              <a:lnSpc>
                <a:spcPct val="100000"/>
              </a:lnSpc>
              <a:spcBef>
                <a:spcPts val="0"/>
              </a:spcBef>
              <a:spcAft>
                <a:spcPts val="0"/>
              </a:spcAft>
            </a:pPr>
            <a:r>
              <a:rPr sz="1800" b="0">
                <a:solidFill>
                  <a:srgbClr val="8F9798"/>
                </a:solidFill>
                <a:latin typeface="Arial"/>
              </a:rPr>
              <a:t>40-start simulated-season mean gap</a:t>
            </a:r>
          </a:p>
        </p:txBody>
      </p:sp>
      <p:sp>
        <p:nvSpPr>
          <p:cNvPr id="5" name="Replay stat"/>
          <p:cNvSpPr txBox="1"/>
          <p:nvPr/>
        </p:nvSpPr>
        <p:spPr>
          <a:xfrm>
            <a:off x="6263640" y="1325880"/>
            <a:ext cx="1828800" cy="777240"/>
          </a:xfrm>
          <a:prstGeom prst="rect">
            <a:avLst/>
          </a:prstGeom>
          <a:noFill/>
        </p:spPr>
        <p:txBody>
          <a:bodyPr wrap="square" lIns="0" rIns="0" tIns="0" bIns="0" anchor="t">
            <a:spAutoFit/>
          </a:bodyPr>
          <a:lstStyle/>
          <a:p>
            <a:pPr algn="l">
              <a:lnSpc>
                <a:spcPct val="100000"/>
              </a:lnSpc>
              <a:spcBef>
                <a:spcPts val="0"/>
              </a:spcBef>
              <a:spcAft>
                <a:spcPts val="0"/>
              </a:spcAft>
            </a:pPr>
            <a:r>
              <a:rPr sz="5400" b="1">
                <a:solidFill>
                  <a:srgbClr val="F4EFE4"/>
                </a:solidFill>
                <a:latin typeface="Arial"/>
              </a:rPr>
              <a:t>197</a:t>
            </a:r>
          </a:p>
        </p:txBody>
      </p:sp>
      <p:sp>
        <p:nvSpPr>
          <p:cNvPr id="6" name="Replay definition"/>
          <p:cNvSpPr txBox="1"/>
          <p:nvPr/>
        </p:nvSpPr>
        <p:spPr>
          <a:xfrm>
            <a:off x="7726679" y="1536192"/>
            <a:ext cx="3749039" cy="457200"/>
          </a:xfrm>
          <a:prstGeom prst="rect">
            <a:avLst/>
          </a:prstGeom>
          <a:noFill/>
        </p:spPr>
        <p:txBody>
          <a:bodyPr wrap="square" lIns="0" rIns="0" tIns="0" bIns="0" anchor="t">
            <a:spAutoFit/>
          </a:bodyPr>
          <a:lstStyle/>
          <a:p>
            <a:pPr algn="l">
              <a:lnSpc>
                <a:spcPct val="100000"/>
              </a:lnSpc>
              <a:spcBef>
                <a:spcPts val="0"/>
              </a:spcBef>
              <a:spcAft>
                <a:spcPts val="0"/>
              </a:spcAft>
            </a:pPr>
            <a:r>
              <a:rPr sz="1800" b="0">
                <a:solidFill>
                  <a:srgbClr val="8F9798"/>
                </a:solidFill>
                <a:latin typeface="Arial"/>
              </a:rPr>
              <a:t>45-window summed transfer-replay gap</a:t>
            </a:r>
          </a:p>
        </p:txBody>
      </p:sp>
      <p:sp>
        <p:nvSpPr>
          <p:cNvPr id="7" name="Caveat 1 number"/>
          <p:cNvSpPr txBox="1"/>
          <p:nvPr/>
        </p:nvSpPr>
        <p:spPr>
          <a:xfrm>
            <a:off x="804672" y="2743200"/>
            <a:ext cx="320040" cy="310896"/>
          </a:xfrm>
          <a:prstGeom prst="rect">
            <a:avLst/>
          </a:prstGeom>
          <a:noFill/>
        </p:spPr>
        <p:txBody>
          <a:bodyPr wrap="square" lIns="0" rIns="0" tIns="0" bIns="0" anchor="t">
            <a:spAutoFit/>
          </a:bodyPr>
          <a:lstStyle/>
          <a:p>
            <a:pPr algn="l">
              <a:lnSpc>
                <a:spcPct val="100000"/>
              </a:lnSpc>
              <a:spcBef>
                <a:spcPts val="0"/>
              </a:spcBef>
              <a:spcAft>
                <a:spcPts val="0"/>
              </a:spcAft>
            </a:pPr>
            <a:r>
              <a:rPr sz="1700" b="1">
                <a:solidFill>
                  <a:srgbClr val="8F9798"/>
                </a:solidFill>
                <a:latin typeface="Arial"/>
              </a:rPr>
              <a:t>1</a:t>
            </a:r>
          </a:p>
        </p:txBody>
      </p:sp>
      <p:sp>
        <p:nvSpPr>
          <p:cNvPr id="8" name="Caveat 1 text"/>
          <p:cNvSpPr txBox="1"/>
          <p:nvPr/>
        </p:nvSpPr>
        <p:spPr>
          <a:xfrm>
            <a:off x="1298448" y="2743200"/>
            <a:ext cx="9829800" cy="475488"/>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F4EFE4"/>
                </a:solidFill>
                <a:latin typeface="Arial"/>
              </a:rPr>
              <a:t>One manager and one season. Luck can shape the replay gap.</a:t>
            </a:r>
          </a:p>
        </p:txBody>
      </p:sp>
      <p:sp>
        <p:nvSpPr>
          <p:cNvPr id="9" name="Caveat 2 number"/>
          <p:cNvSpPr txBox="1"/>
          <p:nvPr/>
        </p:nvSpPr>
        <p:spPr>
          <a:xfrm>
            <a:off x="804672" y="3401568"/>
            <a:ext cx="320040" cy="310896"/>
          </a:xfrm>
          <a:prstGeom prst="rect">
            <a:avLst/>
          </a:prstGeom>
          <a:noFill/>
        </p:spPr>
        <p:txBody>
          <a:bodyPr wrap="square" lIns="0" rIns="0" tIns="0" bIns="0" anchor="t">
            <a:spAutoFit/>
          </a:bodyPr>
          <a:lstStyle/>
          <a:p>
            <a:pPr algn="l">
              <a:lnSpc>
                <a:spcPct val="100000"/>
              </a:lnSpc>
              <a:spcBef>
                <a:spcPts val="0"/>
              </a:spcBef>
              <a:spcAft>
                <a:spcPts val="0"/>
              </a:spcAft>
            </a:pPr>
            <a:r>
              <a:rPr sz="1700" b="1">
                <a:solidFill>
                  <a:srgbClr val="8F9798"/>
                </a:solidFill>
                <a:latin typeface="Arial"/>
              </a:rPr>
              <a:t>2</a:t>
            </a:r>
          </a:p>
        </p:txBody>
      </p:sp>
      <p:sp>
        <p:nvSpPr>
          <p:cNvPr id="10" name="Caveat 2 text"/>
          <p:cNvSpPr txBox="1"/>
          <p:nvPr/>
        </p:nvSpPr>
        <p:spPr>
          <a:xfrm>
            <a:off x="1298448" y="3401568"/>
            <a:ext cx="9829800" cy="475488"/>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F4EFE4"/>
                </a:solidFill>
                <a:latin typeface="Arial"/>
              </a:rPr>
              <a:t>Replay points ignore XI use, captaincy, benching, and transfer hits.</a:t>
            </a:r>
          </a:p>
        </p:txBody>
      </p:sp>
      <p:sp>
        <p:nvSpPr>
          <p:cNvPr id="11" name="Caveat 3 number"/>
          <p:cNvSpPr txBox="1"/>
          <p:nvPr/>
        </p:nvSpPr>
        <p:spPr>
          <a:xfrm>
            <a:off x="804672" y="4059935"/>
            <a:ext cx="320040" cy="310896"/>
          </a:xfrm>
          <a:prstGeom prst="rect">
            <a:avLst/>
          </a:prstGeom>
          <a:noFill/>
        </p:spPr>
        <p:txBody>
          <a:bodyPr wrap="square" lIns="0" rIns="0" tIns="0" bIns="0" anchor="t">
            <a:spAutoFit/>
          </a:bodyPr>
          <a:lstStyle/>
          <a:p>
            <a:pPr algn="l">
              <a:lnSpc>
                <a:spcPct val="100000"/>
              </a:lnSpc>
              <a:spcBef>
                <a:spcPts val="0"/>
              </a:spcBef>
              <a:spcAft>
                <a:spcPts val="0"/>
              </a:spcAft>
            </a:pPr>
            <a:r>
              <a:rPr sz="1700" b="1">
                <a:solidFill>
                  <a:srgbClr val="8F9798"/>
                </a:solidFill>
                <a:latin typeface="Arial"/>
              </a:rPr>
              <a:t>3</a:t>
            </a:r>
          </a:p>
        </p:txBody>
      </p:sp>
      <p:sp>
        <p:nvSpPr>
          <p:cNvPr id="12" name="Caveat 3 text"/>
          <p:cNvSpPr txBox="1"/>
          <p:nvPr/>
        </p:nvSpPr>
        <p:spPr>
          <a:xfrm>
            <a:off x="1298448" y="4059935"/>
            <a:ext cx="9829800" cy="475488"/>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F4EFE4"/>
                </a:solidFill>
                <a:latin typeface="Arial"/>
              </a:rPr>
              <a:t>Eleven of 46 human buys failed at least one locked rule filter.</a:t>
            </a:r>
          </a:p>
        </p:txBody>
      </p:sp>
      <p:sp>
        <p:nvSpPr>
          <p:cNvPr id="13" name="Caveat 4 number"/>
          <p:cNvSpPr txBox="1"/>
          <p:nvPr/>
        </p:nvSpPr>
        <p:spPr>
          <a:xfrm>
            <a:off x="804672" y="4718303"/>
            <a:ext cx="320040" cy="310896"/>
          </a:xfrm>
          <a:prstGeom prst="rect">
            <a:avLst/>
          </a:prstGeom>
          <a:noFill/>
        </p:spPr>
        <p:txBody>
          <a:bodyPr wrap="square" lIns="0" rIns="0" tIns="0" bIns="0" anchor="t">
            <a:spAutoFit/>
          </a:bodyPr>
          <a:lstStyle/>
          <a:p>
            <a:pPr algn="l">
              <a:lnSpc>
                <a:spcPct val="100000"/>
              </a:lnSpc>
              <a:spcBef>
                <a:spcPts val="0"/>
              </a:spcBef>
              <a:spcAft>
                <a:spcPts val="0"/>
              </a:spcAft>
            </a:pPr>
            <a:r>
              <a:rPr sz="1700" b="1">
                <a:solidFill>
                  <a:srgbClr val="8F9798"/>
                </a:solidFill>
                <a:latin typeface="Arial"/>
              </a:rPr>
              <a:t>4</a:t>
            </a:r>
          </a:p>
        </p:txBody>
      </p:sp>
      <p:sp>
        <p:nvSpPr>
          <p:cNvPr id="14" name="Caveat 4 text"/>
          <p:cNvSpPr txBox="1"/>
          <p:nvPr/>
        </p:nvSpPr>
        <p:spPr>
          <a:xfrm>
            <a:off x="1298448" y="4718303"/>
            <a:ext cx="9829800" cy="475488"/>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F4EFE4"/>
                </a:solidFill>
                <a:latin typeface="Arial"/>
              </a:rPr>
              <a:t>The notebook hold baseline means no transfers, with Engine selection and captaincy.</a:t>
            </a:r>
          </a:p>
        </p:txBody>
      </p:sp>
      <p:sp>
        <p:nvSpPr>
          <p:cNvPr id="15" name="Caveat 5 number"/>
          <p:cNvSpPr txBox="1"/>
          <p:nvPr/>
        </p:nvSpPr>
        <p:spPr>
          <a:xfrm>
            <a:off x="804672" y="5376671"/>
            <a:ext cx="320040" cy="310896"/>
          </a:xfrm>
          <a:prstGeom prst="rect">
            <a:avLst/>
          </a:prstGeom>
          <a:noFill/>
        </p:spPr>
        <p:txBody>
          <a:bodyPr wrap="square" lIns="0" rIns="0" tIns="0" bIns="0" anchor="t">
            <a:spAutoFit/>
          </a:bodyPr>
          <a:lstStyle/>
          <a:p>
            <a:pPr algn="l">
              <a:lnSpc>
                <a:spcPct val="100000"/>
              </a:lnSpc>
              <a:spcBef>
                <a:spcPts val="0"/>
              </a:spcBef>
              <a:spcAft>
                <a:spcPts val="0"/>
              </a:spcAft>
            </a:pPr>
            <a:r>
              <a:rPr sz="1700" b="1">
                <a:solidFill>
                  <a:srgbClr val="8F9798"/>
                </a:solidFill>
                <a:latin typeface="Arial"/>
              </a:rPr>
              <a:t>5</a:t>
            </a:r>
          </a:p>
        </p:txBody>
      </p:sp>
      <p:sp>
        <p:nvSpPr>
          <p:cNvPr id="16" name="Caveat 5 text"/>
          <p:cNvSpPr txBox="1"/>
          <p:nvPr/>
        </p:nvSpPr>
        <p:spPr>
          <a:xfrm>
            <a:off x="1298448" y="5376671"/>
            <a:ext cx="9829800" cy="475488"/>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F4EFE4"/>
                </a:solidFill>
                <a:latin typeface="Arial"/>
              </a:rPr>
              <a:t>The model has no complete clean replay score, so its placement stays qualitative.</a:t>
            </a:r>
          </a:p>
        </p:txBody>
      </p:sp>
      <p:sp>
        <p:nvSpPr>
          <p:cNvPr id="17" name="Metric guard footer"/>
          <p:cNvSpPr txBox="1"/>
          <p:nvPr/>
        </p:nvSpPr>
        <p:spPr>
          <a:xfrm>
            <a:off x="685800" y="6537960"/>
            <a:ext cx="10817352" cy="164592"/>
          </a:xfrm>
          <a:prstGeom prst="rect">
            <a:avLst/>
          </a:prstGeom>
          <a:noFill/>
        </p:spPr>
        <p:txBody>
          <a:bodyPr wrap="square" lIns="0" rIns="0" tIns="0" bIns="0" anchor="ctr">
            <a:spAutoFit/>
          </a:bodyPr>
          <a:lstStyle/>
          <a:p>
            <a:pPr algn="ctr">
              <a:lnSpc>
                <a:spcPct val="100000"/>
              </a:lnSpc>
              <a:spcBef>
                <a:spcPts val="0"/>
              </a:spcBef>
              <a:spcAft>
                <a:spcPts val="0"/>
              </a:spcAft>
            </a:pPr>
            <a:r>
              <a:rPr sz="1000" b="0">
                <a:solidFill>
                  <a:srgbClr val="8F9798"/>
                </a:solidFill>
                <a:latin typeface="Arial"/>
              </a:rPr>
              <a:t>159 and 197 use different metrics. Compare direction, never magnitude.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1170432"/>
            <a:ext cx="10817352" cy="731520"/>
          </a:xfrm>
          <a:prstGeom prst="rect">
            <a:avLst/>
          </a:prstGeom>
          <a:noFill/>
        </p:spPr>
        <p:txBody>
          <a:bodyPr wrap="square" lIns="0" rIns="0" tIns="0" bIns="0" anchor="t">
            <a:spAutoFit/>
          </a:bodyPr>
          <a:lstStyle/>
          <a:p>
            <a:pPr algn="ctr">
              <a:lnSpc>
                <a:spcPct val="100000"/>
              </a:lnSpc>
              <a:spcBef>
                <a:spcPts val="0"/>
              </a:spcBef>
              <a:spcAft>
                <a:spcPts val="0"/>
              </a:spcAft>
            </a:pPr>
            <a:r>
              <a:rPr sz="4800" b="1">
                <a:solidFill>
                  <a:srgbClr val="00D785"/>
                </a:solidFill>
                <a:latin typeface="Arial"/>
              </a:rPr>
              <a:t>Keep the floor. Hunt the ceiling.</a:t>
            </a:r>
          </a:p>
        </p:txBody>
      </p:sp>
      <p:sp>
        <p:nvSpPr>
          <p:cNvPr id="3" name="Close statement"/>
          <p:cNvSpPr txBox="1"/>
          <p:nvPr/>
        </p:nvSpPr>
        <p:spPr>
          <a:xfrm>
            <a:off x="1143000" y="2423160"/>
            <a:ext cx="9902952" cy="1097280"/>
          </a:xfrm>
          <a:prstGeom prst="rect">
            <a:avLst/>
          </a:prstGeom>
          <a:noFill/>
        </p:spPr>
        <p:txBody>
          <a:bodyPr wrap="square" lIns="0" rIns="0" tIns="0" bIns="0" anchor="ctr">
            <a:spAutoFit/>
          </a:bodyPr>
          <a:lstStyle/>
          <a:p>
            <a:pPr algn="ctr">
              <a:lnSpc>
                <a:spcPct val="115000"/>
              </a:lnSpc>
              <a:spcBef>
                <a:spcPts val="0"/>
              </a:spcBef>
              <a:spcAft>
                <a:spcPts val="0"/>
              </a:spcAft>
            </a:pPr>
            <a:r>
              <a:rPr sz="2800" b="1">
                <a:solidFill>
                  <a:srgbClr val="F4EFE4"/>
                </a:solidFill>
                <a:latin typeface="Arial"/>
              </a:rPr>
              <a:t>The simple rule protects against passivity.
Skilled judgment adds role, context, and upside.</a:t>
            </a:r>
          </a:p>
        </p:txBody>
      </p:sp>
      <p:sp>
        <p:nvSpPr>
          <p:cNvPr id="4" name="Close line"/>
          <p:cNvSpPr txBox="1"/>
          <p:nvPr/>
        </p:nvSpPr>
        <p:spPr>
          <a:xfrm>
            <a:off x="731520" y="4892040"/>
            <a:ext cx="10725912" cy="411480"/>
          </a:xfrm>
          <a:prstGeom prst="rect">
            <a:avLst/>
          </a:prstGeom>
          <a:noFill/>
        </p:spPr>
        <p:txBody>
          <a:bodyPr wrap="square" lIns="0" rIns="0" tIns="0" bIns="0" anchor="t">
            <a:spAutoFit/>
          </a:bodyPr>
          <a:lstStyle/>
          <a:p>
            <a:pPr algn="ctr">
              <a:lnSpc>
                <a:spcPct val="100000"/>
              </a:lnSpc>
              <a:spcBef>
                <a:spcPts val="0"/>
              </a:spcBef>
              <a:spcAft>
                <a:spcPts val="0"/>
              </a:spcAft>
            </a:pPr>
            <a:r>
              <a:rPr sz="2200" b="0">
                <a:solidFill>
                  <a:srgbClr val="8F9798"/>
                </a:solidFill>
                <a:latin typeface="Arial"/>
              </a:rPr>
              <a:t>Different opponents. One unified truth.</a:t>
            </a:r>
          </a:p>
        </p:txBody>
      </p:sp>
      <p:sp>
        <p:nvSpPr>
          <p:cNvPr id="5" name="Final warning"/>
          <p:cNvSpPr txBox="1"/>
          <p:nvPr/>
        </p:nvSpPr>
        <p:spPr>
          <a:xfrm>
            <a:off x="731520" y="5486400"/>
            <a:ext cx="10725912" cy="365760"/>
          </a:xfrm>
          <a:prstGeom prst="rect">
            <a:avLst/>
          </a:prstGeom>
          <a:noFill/>
        </p:spPr>
        <p:txBody>
          <a:bodyPr wrap="square" lIns="0" rIns="0" tIns="0" bIns="0" anchor="t">
            <a:spAutoFit/>
          </a:bodyPr>
          <a:lstStyle/>
          <a:p>
            <a:pPr algn="ctr">
              <a:lnSpc>
                <a:spcPct val="100000"/>
              </a:lnSpc>
              <a:spcBef>
                <a:spcPts val="0"/>
              </a:spcBef>
              <a:spcAft>
                <a:spcPts val="0"/>
              </a:spcAft>
            </a:pPr>
            <a:r>
              <a:rPr sz="1800" b="1">
                <a:solidFill>
                  <a:srgbClr val="F4EFE4"/>
                </a:solidFill>
                <a:latin typeface="Arial"/>
              </a:rPr>
              <a:t>Never compare the 159 and 197 gaps as magnitudes.</a:t>
            </a:r>
          </a:p>
        </p:txBody>
      </p:sp>
      <p:sp>
        <p:nvSpPr>
          <p:cNvPr id="6" name="Metric guard footer"/>
          <p:cNvSpPr txBox="1"/>
          <p:nvPr/>
        </p:nvSpPr>
        <p:spPr>
          <a:xfrm>
            <a:off x="685800" y="6537960"/>
            <a:ext cx="10817352" cy="164592"/>
          </a:xfrm>
          <a:prstGeom prst="rect">
            <a:avLst/>
          </a:prstGeom>
          <a:noFill/>
        </p:spPr>
        <p:txBody>
          <a:bodyPr wrap="square" lIns="0" rIns="0" tIns="0" bIns="0" anchor="ctr">
            <a:spAutoFit/>
          </a:bodyPr>
          <a:lstStyle/>
          <a:p>
            <a:pPr algn="ctr">
              <a:lnSpc>
                <a:spcPct val="100000"/>
              </a:lnSpc>
              <a:spcBef>
                <a:spcPts val="0"/>
              </a:spcBef>
              <a:spcAft>
                <a:spcPts val="0"/>
              </a:spcAft>
            </a:pPr>
            <a:r>
              <a:rPr sz="1000" b="0">
                <a:solidFill>
                  <a:srgbClr val="8F9798"/>
                </a:solidFill>
                <a:latin typeface="Arial"/>
              </a:rPr>
              <a:t>159 and 197 use different metrics. Compare direction, never magnitude.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